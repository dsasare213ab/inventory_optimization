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 id="2147483792" r:id="rId2"/>
    <p:sldMasterId id="2147483804" r:id="rId3"/>
    <p:sldMasterId id="2147483822" r:id="rId4"/>
    <p:sldMasterId id="2147483834" r:id="rId5"/>
  </p:sldMasterIdLst>
  <p:notesMasterIdLst>
    <p:notesMasterId r:id="rId28"/>
  </p:notesMasterIdLst>
  <p:sldIdLst>
    <p:sldId id="256" r:id="rId6"/>
    <p:sldId id="257" r:id="rId7"/>
    <p:sldId id="267" r:id="rId8"/>
    <p:sldId id="268" r:id="rId9"/>
    <p:sldId id="260" r:id="rId10"/>
    <p:sldId id="261" r:id="rId11"/>
    <p:sldId id="262" r:id="rId12"/>
    <p:sldId id="263" r:id="rId13"/>
    <p:sldId id="264" r:id="rId14"/>
    <p:sldId id="266"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ABF7BB-B377-4E11-A867-375683D37844}" v="78" dt="2025-02-12T20:11:13.4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KRB\Downloads\data-1739243508800.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[data-1739243508800.csv]Sheet1!PivotTable9</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c:f>
              <c:strCache>
                <c:ptCount val="1"/>
                <c:pt idx="0">
                  <c:v>Total</c:v>
                </c:pt>
              </c:strCache>
            </c:strRef>
          </c:tx>
          <c:spPr>
            <a:solidFill>
              <a:schemeClr val="tx2">
                <a:lumMod val="60000"/>
                <a:lumOff val="40000"/>
              </a:schemeClr>
            </a:solidFill>
            <a:ln>
              <a:noFill/>
            </a:ln>
            <a:effectLst/>
          </c:spPr>
          <c:invertIfNegative val="0"/>
          <c:dPt>
            <c:idx val="3"/>
            <c:invertIfNegative val="0"/>
            <c:bubble3D val="0"/>
            <c:spPr>
              <a:solidFill>
                <a:schemeClr val="accent2">
                  <a:lumMod val="50000"/>
                </a:schemeClr>
              </a:solidFill>
              <a:ln>
                <a:noFill/>
              </a:ln>
              <a:effectLst/>
            </c:spPr>
            <c:extLst>
              <c:ext xmlns:c16="http://schemas.microsoft.com/office/drawing/2014/chart" uri="{C3380CC4-5D6E-409C-BE32-E72D297353CC}">
                <c16:uniqueId val="{00000001-DCFB-48CE-8CDD-4BEC74C38D03}"/>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Sheet1!$A$4:$A$7</c:f>
              <c:strCache>
                <c:ptCount val="4"/>
                <c:pt idx="0">
                  <c:v>Laptops</c:v>
                </c:pt>
                <c:pt idx="1">
                  <c:v>Home_Appliances</c:v>
                </c:pt>
                <c:pt idx="2">
                  <c:v>SmartPhones</c:v>
                </c:pt>
                <c:pt idx="3">
                  <c:v>Electronics</c:v>
                </c:pt>
              </c:strCache>
            </c:strRef>
          </c:cat>
          <c:val>
            <c:numRef>
              <c:f>Sheet1!$B$4:$B$7</c:f>
              <c:numCache>
                <c:formatCode>General</c:formatCode>
                <c:ptCount val="4"/>
                <c:pt idx="0">
                  <c:v>21905</c:v>
                </c:pt>
                <c:pt idx="1">
                  <c:v>22580</c:v>
                </c:pt>
                <c:pt idx="2">
                  <c:v>22987</c:v>
                </c:pt>
                <c:pt idx="3">
                  <c:v>23754</c:v>
                </c:pt>
              </c:numCache>
            </c:numRef>
          </c:val>
          <c:extLst>
            <c:ext xmlns:c16="http://schemas.microsoft.com/office/drawing/2014/chart" uri="{C3380CC4-5D6E-409C-BE32-E72D297353CC}">
              <c16:uniqueId val="{00000002-DCFB-48CE-8CDD-4BEC74C38D03}"/>
            </c:ext>
          </c:extLst>
        </c:ser>
        <c:dLbls>
          <c:showLegendKey val="0"/>
          <c:showVal val="0"/>
          <c:showCatName val="0"/>
          <c:showSerName val="0"/>
          <c:showPercent val="0"/>
          <c:showBubbleSize val="0"/>
        </c:dLbls>
        <c:gapWidth val="182"/>
        <c:axId val="579491800"/>
        <c:axId val="579490360"/>
      </c:barChart>
      <c:catAx>
        <c:axId val="5794918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79490360"/>
        <c:crosses val="autoZero"/>
        <c:auto val="1"/>
        <c:lblAlgn val="ctr"/>
        <c:lblOffset val="100"/>
        <c:noMultiLvlLbl val="0"/>
      </c:catAx>
      <c:valAx>
        <c:axId val="579490360"/>
        <c:scaling>
          <c:orientation val="minMax"/>
        </c:scaling>
        <c:delete val="1"/>
        <c:axPos val="b"/>
        <c:numFmt formatCode="General" sourceLinked="1"/>
        <c:majorTickMark val="none"/>
        <c:minorTickMark val="none"/>
        <c:tickLblPos val="nextTo"/>
        <c:crossAx val="579491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A2C8AA-B3F1-4238-A095-72587645D2C8}" type="doc">
      <dgm:prSet loTypeId="urn:microsoft.com/office/officeart/2005/8/layout/vList2" loCatId="list" qsTypeId="urn:microsoft.com/office/officeart/2005/8/quickstyle/simple5" qsCatId="simple" csTypeId="urn:microsoft.com/office/officeart/2005/8/colors/colorful2" csCatId="colorful" phldr="1"/>
      <dgm:spPr/>
      <dgm:t>
        <a:bodyPr/>
        <a:lstStyle/>
        <a:p>
          <a:endParaRPr lang="en-US"/>
        </a:p>
      </dgm:t>
    </dgm:pt>
    <dgm:pt modelId="{19095D50-A38E-4D41-A251-7179467A7DB8}">
      <dgm:prSet custT="1"/>
      <dgm:spPr/>
      <dgm:t>
        <a:bodyPr/>
        <a:lstStyle/>
        <a:p>
          <a:r>
            <a:rPr lang="en-US" sz="2800" dirty="0"/>
            <a:t>T.T. Inc. has consistently demonstrated an unwavering commitment to excellence, reinforcing its position as a leader in the consumer electronics sector. </a:t>
          </a:r>
        </a:p>
      </dgm:t>
    </dgm:pt>
    <dgm:pt modelId="{5393A1FA-E561-4F62-AA32-9B58DD226CB9}" type="parTrans" cxnId="{318C95A3-D95F-42DB-8F76-78643EB0F2D2}">
      <dgm:prSet/>
      <dgm:spPr/>
      <dgm:t>
        <a:bodyPr/>
        <a:lstStyle/>
        <a:p>
          <a:endParaRPr lang="en-US"/>
        </a:p>
      </dgm:t>
    </dgm:pt>
    <dgm:pt modelId="{BF65A722-F4F7-449A-AF1A-E9977A83E48B}" type="sibTrans" cxnId="{318C95A3-D95F-42DB-8F76-78643EB0F2D2}">
      <dgm:prSet/>
      <dgm:spPr/>
      <dgm:t>
        <a:bodyPr/>
        <a:lstStyle/>
        <a:p>
          <a:endParaRPr lang="en-US"/>
        </a:p>
      </dgm:t>
    </dgm:pt>
    <dgm:pt modelId="{9873E886-71E7-48CF-B0F2-C8EE0BE3C654}">
      <dgm:prSet custT="1"/>
      <dgm:spPr/>
      <dgm:t>
        <a:bodyPr/>
        <a:lstStyle/>
        <a:p>
          <a:r>
            <a:rPr lang="en-US" sz="2000" dirty="0"/>
            <a:t>However, to further strengthen its market dominance, the company recognizes the necessity of a deeper understanding of its product portfolio and the implementation of robust inventory management </a:t>
          </a:r>
          <a:r>
            <a:rPr lang="en-US" sz="2000" dirty="0" err="1"/>
            <a:t>practices.To</a:t>
          </a:r>
          <a:r>
            <a:rPr lang="en-US" sz="2000" dirty="0"/>
            <a:t> achieve this objective, a specialized team was engaged to conduct a data-driven analysis to uncover key insights and develop optimization strategies for inventory management. </a:t>
          </a:r>
        </a:p>
      </dgm:t>
    </dgm:pt>
    <dgm:pt modelId="{1011DCCA-875B-4AA9-9AEE-6C8F2A83E926}" type="parTrans" cxnId="{D6828C43-F2ED-4771-BF7A-587191A4799C}">
      <dgm:prSet/>
      <dgm:spPr/>
      <dgm:t>
        <a:bodyPr/>
        <a:lstStyle/>
        <a:p>
          <a:endParaRPr lang="en-US"/>
        </a:p>
      </dgm:t>
    </dgm:pt>
    <dgm:pt modelId="{68F74642-B207-48C0-813A-630CD0B6CBFD}" type="sibTrans" cxnId="{D6828C43-F2ED-4771-BF7A-587191A4799C}">
      <dgm:prSet/>
      <dgm:spPr/>
      <dgm:t>
        <a:bodyPr/>
        <a:lstStyle/>
        <a:p>
          <a:endParaRPr lang="en-US"/>
        </a:p>
      </dgm:t>
    </dgm:pt>
    <dgm:pt modelId="{3A50843A-9891-4633-87A6-C89ACFD79FFB}" type="pres">
      <dgm:prSet presAssocID="{36A2C8AA-B3F1-4238-A095-72587645D2C8}" presName="linear" presStyleCnt="0">
        <dgm:presLayoutVars>
          <dgm:animLvl val="lvl"/>
          <dgm:resizeHandles val="exact"/>
        </dgm:presLayoutVars>
      </dgm:prSet>
      <dgm:spPr/>
    </dgm:pt>
    <dgm:pt modelId="{4637EAF4-A3DA-4A22-B9F8-C5F668DF0959}" type="pres">
      <dgm:prSet presAssocID="{19095D50-A38E-4D41-A251-7179467A7DB8}" presName="parentText" presStyleLbl="node1" presStyleIdx="0" presStyleCnt="2">
        <dgm:presLayoutVars>
          <dgm:chMax val="0"/>
          <dgm:bulletEnabled val="1"/>
        </dgm:presLayoutVars>
      </dgm:prSet>
      <dgm:spPr/>
    </dgm:pt>
    <dgm:pt modelId="{2F04CE3D-AE75-4B28-9449-162E44C923F2}" type="pres">
      <dgm:prSet presAssocID="{BF65A722-F4F7-449A-AF1A-E9977A83E48B}" presName="spacer" presStyleCnt="0"/>
      <dgm:spPr/>
    </dgm:pt>
    <dgm:pt modelId="{8C23BCC6-7C25-4C10-A6C2-D18E05D58705}" type="pres">
      <dgm:prSet presAssocID="{9873E886-71E7-48CF-B0F2-C8EE0BE3C654}" presName="parentText" presStyleLbl="node1" presStyleIdx="1" presStyleCnt="2" custLinFactNeighborX="-2" custLinFactNeighborY="39390">
        <dgm:presLayoutVars>
          <dgm:chMax val="0"/>
          <dgm:bulletEnabled val="1"/>
        </dgm:presLayoutVars>
      </dgm:prSet>
      <dgm:spPr/>
    </dgm:pt>
  </dgm:ptLst>
  <dgm:cxnLst>
    <dgm:cxn modelId="{D8C65D35-5F3D-4298-8EB8-C06D5C110859}" type="presOf" srcId="{36A2C8AA-B3F1-4238-A095-72587645D2C8}" destId="{3A50843A-9891-4633-87A6-C89ACFD79FFB}" srcOrd="0" destOrd="0" presId="urn:microsoft.com/office/officeart/2005/8/layout/vList2"/>
    <dgm:cxn modelId="{C220C636-E9F9-48D8-8DFF-BF32CB41523C}" type="presOf" srcId="{19095D50-A38E-4D41-A251-7179467A7DB8}" destId="{4637EAF4-A3DA-4A22-B9F8-C5F668DF0959}" srcOrd="0" destOrd="0" presId="urn:microsoft.com/office/officeart/2005/8/layout/vList2"/>
    <dgm:cxn modelId="{D6828C43-F2ED-4771-BF7A-587191A4799C}" srcId="{36A2C8AA-B3F1-4238-A095-72587645D2C8}" destId="{9873E886-71E7-48CF-B0F2-C8EE0BE3C654}" srcOrd="1" destOrd="0" parTransId="{1011DCCA-875B-4AA9-9AEE-6C8F2A83E926}" sibTransId="{68F74642-B207-48C0-813A-630CD0B6CBFD}"/>
    <dgm:cxn modelId="{318C95A3-D95F-42DB-8F76-78643EB0F2D2}" srcId="{36A2C8AA-B3F1-4238-A095-72587645D2C8}" destId="{19095D50-A38E-4D41-A251-7179467A7DB8}" srcOrd="0" destOrd="0" parTransId="{5393A1FA-E561-4F62-AA32-9B58DD226CB9}" sibTransId="{BF65A722-F4F7-449A-AF1A-E9977A83E48B}"/>
    <dgm:cxn modelId="{5E3A34B8-1AFF-4270-9D83-A58CFFAAFF5F}" type="presOf" srcId="{9873E886-71E7-48CF-B0F2-C8EE0BE3C654}" destId="{8C23BCC6-7C25-4C10-A6C2-D18E05D58705}" srcOrd="0" destOrd="0" presId="urn:microsoft.com/office/officeart/2005/8/layout/vList2"/>
    <dgm:cxn modelId="{DBE2C17C-63A5-4E41-AAB1-4DCC511A2BF3}" type="presParOf" srcId="{3A50843A-9891-4633-87A6-C89ACFD79FFB}" destId="{4637EAF4-A3DA-4A22-B9F8-C5F668DF0959}" srcOrd="0" destOrd="0" presId="urn:microsoft.com/office/officeart/2005/8/layout/vList2"/>
    <dgm:cxn modelId="{20AB01E0-FB86-4B78-8A67-7E3F63BA2D8C}" type="presParOf" srcId="{3A50843A-9891-4633-87A6-C89ACFD79FFB}" destId="{2F04CE3D-AE75-4B28-9449-162E44C923F2}" srcOrd="1" destOrd="0" presId="urn:microsoft.com/office/officeart/2005/8/layout/vList2"/>
    <dgm:cxn modelId="{2BC84BB7-D7AD-4CEA-A506-1F9C8381C1AF}" type="presParOf" srcId="{3A50843A-9891-4633-87A6-C89ACFD79FFB}" destId="{8C23BCC6-7C25-4C10-A6C2-D18E05D58705}" srcOrd="2"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A2C8AA-B3F1-4238-A095-72587645D2C8}" type="doc">
      <dgm:prSet loTypeId="urn:microsoft.com/office/officeart/2005/8/layout/vList2" loCatId="list" qsTypeId="urn:microsoft.com/office/officeart/2005/8/quickstyle/simple5" qsCatId="simple" csTypeId="urn:microsoft.com/office/officeart/2005/8/colors/colorful2" csCatId="colorful" phldr="1"/>
      <dgm:spPr/>
      <dgm:t>
        <a:bodyPr/>
        <a:lstStyle/>
        <a:p>
          <a:endParaRPr lang="en-US"/>
        </a:p>
      </dgm:t>
    </dgm:pt>
    <dgm:pt modelId="{19095D50-A38E-4D41-A251-7179467A7DB8}">
      <dgm:prSet custT="1"/>
      <dgm:spPr/>
      <dgm:t>
        <a:bodyPr/>
        <a:lstStyle/>
        <a:p>
          <a:r>
            <a:rPr lang="en-US" sz="2800" dirty="0"/>
            <a:t>The goal was to enhance operational efficiency, streamline supply chain processes, and mitigate inventory-related inefficiencies </a:t>
          </a:r>
        </a:p>
      </dgm:t>
    </dgm:pt>
    <dgm:pt modelId="{5393A1FA-E561-4F62-AA32-9B58DD226CB9}" type="parTrans" cxnId="{318C95A3-D95F-42DB-8F76-78643EB0F2D2}">
      <dgm:prSet/>
      <dgm:spPr/>
      <dgm:t>
        <a:bodyPr/>
        <a:lstStyle/>
        <a:p>
          <a:endParaRPr lang="en-US"/>
        </a:p>
      </dgm:t>
    </dgm:pt>
    <dgm:pt modelId="{BF65A722-F4F7-449A-AF1A-E9977A83E48B}" type="sibTrans" cxnId="{318C95A3-D95F-42DB-8F76-78643EB0F2D2}">
      <dgm:prSet/>
      <dgm:spPr/>
      <dgm:t>
        <a:bodyPr/>
        <a:lstStyle/>
        <a:p>
          <a:endParaRPr lang="en-US"/>
        </a:p>
      </dgm:t>
    </dgm:pt>
    <dgm:pt modelId="{9873E886-71E7-48CF-B0F2-C8EE0BE3C654}">
      <dgm:prSet custT="1"/>
      <dgm:spPr/>
      <dgm:t>
        <a:bodyPr/>
        <a:lstStyle/>
        <a:p>
          <a:r>
            <a:rPr lang="en-US" sz="2400" dirty="0"/>
            <a:t> This report presents a comprehensive synthesis of our team’s findings, derived from in-depth data queries and analytical assessments. It systematically addresses existing challenges, identifies critical areas for improvement, and proposes evidence-based strategies to optimize inventory management and overall operational performance</a:t>
          </a:r>
        </a:p>
      </dgm:t>
    </dgm:pt>
    <dgm:pt modelId="{1011DCCA-875B-4AA9-9AEE-6C8F2A83E926}" type="parTrans" cxnId="{D6828C43-F2ED-4771-BF7A-587191A4799C}">
      <dgm:prSet/>
      <dgm:spPr/>
      <dgm:t>
        <a:bodyPr/>
        <a:lstStyle/>
        <a:p>
          <a:endParaRPr lang="en-US"/>
        </a:p>
      </dgm:t>
    </dgm:pt>
    <dgm:pt modelId="{68F74642-B207-48C0-813A-630CD0B6CBFD}" type="sibTrans" cxnId="{D6828C43-F2ED-4771-BF7A-587191A4799C}">
      <dgm:prSet/>
      <dgm:spPr/>
      <dgm:t>
        <a:bodyPr/>
        <a:lstStyle/>
        <a:p>
          <a:endParaRPr lang="en-US"/>
        </a:p>
      </dgm:t>
    </dgm:pt>
    <dgm:pt modelId="{3D599AF8-F91F-405B-8F98-2EFFD4C501AA}" type="pres">
      <dgm:prSet presAssocID="{36A2C8AA-B3F1-4238-A095-72587645D2C8}" presName="linear" presStyleCnt="0">
        <dgm:presLayoutVars>
          <dgm:animLvl val="lvl"/>
          <dgm:resizeHandles val="exact"/>
        </dgm:presLayoutVars>
      </dgm:prSet>
      <dgm:spPr/>
    </dgm:pt>
    <dgm:pt modelId="{C8CE1558-E9AD-48BA-9852-F16CFC2B923E}" type="pres">
      <dgm:prSet presAssocID="{19095D50-A38E-4D41-A251-7179467A7DB8}" presName="parentText" presStyleLbl="node1" presStyleIdx="0" presStyleCnt="2">
        <dgm:presLayoutVars>
          <dgm:chMax val="0"/>
          <dgm:bulletEnabled val="1"/>
        </dgm:presLayoutVars>
      </dgm:prSet>
      <dgm:spPr/>
    </dgm:pt>
    <dgm:pt modelId="{7C1343FA-F223-4D30-8717-A01743135B6E}" type="pres">
      <dgm:prSet presAssocID="{BF65A722-F4F7-449A-AF1A-E9977A83E48B}" presName="spacer" presStyleCnt="0"/>
      <dgm:spPr/>
    </dgm:pt>
    <dgm:pt modelId="{9989E162-2DC5-4690-8B92-20CB6E63027A}" type="pres">
      <dgm:prSet presAssocID="{9873E886-71E7-48CF-B0F2-C8EE0BE3C654}" presName="parentText" presStyleLbl="node1" presStyleIdx="1" presStyleCnt="2" custLinFactY="7697" custLinFactNeighborX="2482" custLinFactNeighborY="100000">
        <dgm:presLayoutVars>
          <dgm:chMax val="0"/>
          <dgm:bulletEnabled val="1"/>
        </dgm:presLayoutVars>
      </dgm:prSet>
      <dgm:spPr/>
    </dgm:pt>
  </dgm:ptLst>
  <dgm:cxnLst>
    <dgm:cxn modelId="{CE62A641-C98C-40DB-8A59-39FDF645592D}" type="presOf" srcId="{9873E886-71E7-48CF-B0F2-C8EE0BE3C654}" destId="{9989E162-2DC5-4690-8B92-20CB6E63027A}" srcOrd="0" destOrd="0" presId="urn:microsoft.com/office/officeart/2005/8/layout/vList2"/>
    <dgm:cxn modelId="{D6828C43-F2ED-4771-BF7A-587191A4799C}" srcId="{36A2C8AA-B3F1-4238-A095-72587645D2C8}" destId="{9873E886-71E7-48CF-B0F2-C8EE0BE3C654}" srcOrd="1" destOrd="0" parTransId="{1011DCCA-875B-4AA9-9AEE-6C8F2A83E926}" sibTransId="{68F74642-B207-48C0-813A-630CD0B6CBFD}"/>
    <dgm:cxn modelId="{D2366589-AF06-48AB-A91A-9E41848C5A0B}" type="presOf" srcId="{19095D50-A38E-4D41-A251-7179467A7DB8}" destId="{C8CE1558-E9AD-48BA-9852-F16CFC2B923E}" srcOrd="0" destOrd="0" presId="urn:microsoft.com/office/officeart/2005/8/layout/vList2"/>
    <dgm:cxn modelId="{318C95A3-D95F-42DB-8F76-78643EB0F2D2}" srcId="{36A2C8AA-B3F1-4238-A095-72587645D2C8}" destId="{19095D50-A38E-4D41-A251-7179467A7DB8}" srcOrd="0" destOrd="0" parTransId="{5393A1FA-E561-4F62-AA32-9B58DD226CB9}" sibTransId="{BF65A722-F4F7-449A-AF1A-E9977A83E48B}"/>
    <dgm:cxn modelId="{946269FB-854B-40D6-8EC5-3BE27A4412BA}" type="presOf" srcId="{36A2C8AA-B3F1-4238-A095-72587645D2C8}" destId="{3D599AF8-F91F-405B-8F98-2EFFD4C501AA}" srcOrd="0" destOrd="0" presId="urn:microsoft.com/office/officeart/2005/8/layout/vList2"/>
    <dgm:cxn modelId="{1FC67BF8-73F8-4F4F-803C-9523290E5C18}" type="presParOf" srcId="{3D599AF8-F91F-405B-8F98-2EFFD4C501AA}" destId="{C8CE1558-E9AD-48BA-9852-F16CFC2B923E}" srcOrd="0" destOrd="0" presId="urn:microsoft.com/office/officeart/2005/8/layout/vList2"/>
    <dgm:cxn modelId="{7AA7CC71-007B-4FAA-A34B-6ED653E908EE}" type="presParOf" srcId="{3D599AF8-F91F-405B-8F98-2EFFD4C501AA}" destId="{7C1343FA-F223-4D30-8717-A01743135B6E}" srcOrd="1" destOrd="0" presId="urn:microsoft.com/office/officeart/2005/8/layout/vList2"/>
    <dgm:cxn modelId="{D22FF2C5-A975-4A0F-B51F-F3E3DDF745F3}" type="presParOf" srcId="{3D599AF8-F91F-405B-8F98-2EFFD4C501AA}" destId="{9989E162-2DC5-4690-8B92-20CB6E63027A}" srcOrd="2"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A8530B-034A-4739-A083-B9C0872B4354}" type="doc">
      <dgm:prSet loTypeId="urn:microsoft.com/office/officeart/2018/2/layout/IconCircleList" loCatId="icon" qsTypeId="urn:microsoft.com/office/officeart/2005/8/quickstyle/simple5" qsCatId="simple" csTypeId="urn:microsoft.com/office/officeart/2005/8/colors/colorful1" csCatId="colorful" phldr="1"/>
      <dgm:spPr/>
      <dgm:t>
        <a:bodyPr/>
        <a:lstStyle/>
        <a:p>
          <a:endParaRPr lang="en-US"/>
        </a:p>
      </dgm:t>
    </dgm:pt>
    <dgm:pt modelId="{B41EDD99-3CBF-478E-BA20-584A85363134}">
      <dgm:prSet/>
      <dgm:spPr/>
      <dgm:t>
        <a:bodyPr/>
        <a:lstStyle/>
        <a:p>
          <a:pPr>
            <a:lnSpc>
              <a:spcPct val="100000"/>
            </a:lnSpc>
          </a:pPr>
          <a:r>
            <a:rPr lang="en-US" b="0"/>
            <a:t>Optimizing inventory levels to minimize overstock and understock situations</a:t>
          </a:r>
          <a:r>
            <a:rPr lang="en-US"/>
            <a:t>.</a:t>
          </a:r>
        </a:p>
      </dgm:t>
    </dgm:pt>
    <dgm:pt modelId="{5B7824EE-1765-455C-95E7-582BB05F1185}" type="parTrans" cxnId="{0F3A6830-6E5E-4964-85FE-165FBB1B3327}">
      <dgm:prSet/>
      <dgm:spPr/>
      <dgm:t>
        <a:bodyPr/>
        <a:lstStyle/>
        <a:p>
          <a:endParaRPr lang="en-US"/>
        </a:p>
      </dgm:t>
    </dgm:pt>
    <dgm:pt modelId="{73B8FA95-67CF-422F-A478-852564FEEE92}" type="sibTrans" cxnId="{0F3A6830-6E5E-4964-85FE-165FBB1B3327}">
      <dgm:prSet/>
      <dgm:spPr/>
      <dgm:t>
        <a:bodyPr/>
        <a:lstStyle/>
        <a:p>
          <a:pPr>
            <a:lnSpc>
              <a:spcPct val="100000"/>
            </a:lnSpc>
          </a:pPr>
          <a:endParaRPr lang="en-US"/>
        </a:p>
      </dgm:t>
    </dgm:pt>
    <dgm:pt modelId="{CF745458-A950-4368-BADB-7A9F057C0938}">
      <dgm:prSet/>
      <dgm:spPr/>
      <dgm:t>
        <a:bodyPr/>
        <a:lstStyle/>
        <a:p>
          <a:pPr>
            <a:lnSpc>
              <a:spcPct val="100000"/>
            </a:lnSpc>
          </a:pPr>
          <a:r>
            <a:rPr lang="en-US"/>
            <a:t>Understanding seasonal trend of sales for different products.</a:t>
          </a:r>
        </a:p>
      </dgm:t>
    </dgm:pt>
    <dgm:pt modelId="{B1173B09-F471-4E17-8BD0-3B5955175E78}" type="parTrans" cxnId="{411566EF-99CC-4B87-A7D7-D70B07AE25B8}">
      <dgm:prSet/>
      <dgm:spPr/>
      <dgm:t>
        <a:bodyPr/>
        <a:lstStyle/>
        <a:p>
          <a:endParaRPr lang="en-US"/>
        </a:p>
      </dgm:t>
    </dgm:pt>
    <dgm:pt modelId="{4917E2FF-1E41-4779-B18A-1B09B5C67BCD}" type="sibTrans" cxnId="{411566EF-99CC-4B87-A7D7-D70B07AE25B8}">
      <dgm:prSet/>
      <dgm:spPr/>
      <dgm:t>
        <a:bodyPr/>
        <a:lstStyle/>
        <a:p>
          <a:pPr>
            <a:lnSpc>
              <a:spcPct val="100000"/>
            </a:lnSpc>
          </a:pPr>
          <a:endParaRPr lang="en-US"/>
        </a:p>
      </dgm:t>
    </dgm:pt>
    <dgm:pt modelId="{08572B75-F770-4C0B-8F66-E059BE64C721}">
      <dgm:prSet/>
      <dgm:spPr/>
      <dgm:t>
        <a:bodyPr/>
        <a:lstStyle/>
        <a:p>
          <a:pPr>
            <a:lnSpc>
              <a:spcPct val="100000"/>
            </a:lnSpc>
          </a:pPr>
          <a:r>
            <a:rPr lang="en-US"/>
            <a:t>Improving customer satisfaction by ensuring product availability</a:t>
          </a:r>
        </a:p>
      </dgm:t>
    </dgm:pt>
    <dgm:pt modelId="{6DA0672A-8F0C-4098-A16E-D6E043868169}" type="parTrans" cxnId="{7FDA6C22-4C72-41D8-B0AD-B42FB40B3997}">
      <dgm:prSet/>
      <dgm:spPr/>
      <dgm:t>
        <a:bodyPr/>
        <a:lstStyle/>
        <a:p>
          <a:endParaRPr lang="en-US"/>
        </a:p>
      </dgm:t>
    </dgm:pt>
    <dgm:pt modelId="{09F72126-0A57-4D22-B0BB-76112D48FFB4}" type="sibTrans" cxnId="{7FDA6C22-4C72-41D8-B0AD-B42FB40B3997}">
      <dgm:prSet/>
      <dgm:spPr/>
      <dgm:t>
        <a:bodyPr/>
        <a:lstStyle/>
        <a:p>
          <a:endParaRPr lang="en-US"/>
        </a:p>
      </dgm:t>
    </dgm:pt>
    <dgm:pt modelId="{9FC6117E-4487-4CAC-8FD7-707554A9A392}">
      <dgm:prSet/>
      <dgm:spPr/>
      <dgm:t>
        <a:bodyPr/>
        <a:lstStyle/>
        <a:p>
          <a:pPr>
            <a:lnSpc>
              <a:spcPct val="100000"/>
            </a:lnSpc>
          </a:pPr>
          <a:r>
            <a:rPr lang="en-US" dirty="0"/>
            <a:t>Guided by these objectives</a:t>
          </a:r>
        </a:p>
      </dgm:t>
    </dgm:pt>
    <dgm:pt modelId="{E6996008-E840-4D48-9183-BBE8A164BED5}" type="sibTrans" cxnId="{05F811C3-F29C-4FBF-8569-F9AA2F9DC4D5}">
      <dgm:prSet/>
      <dgm:spPr/>
      <dgm:t>
        <a:bodyPr/>
        <a:lstStyle/>
        <a:p>
          <a:pPr>
            <a:lnSpc>
              <a:spcPct val="100000"/>
            </a:lnSpc>
          </a:pPr>
          <a:endParaRPr lang="en-US"/>
        </a:p>
      </dgm:t>
    </dgm:pt>
    <dgm:pt modelId="{CD748C32-5B70-4FDE-8096-E578F9FDDDF7}" type="parTrans" cxnId="{05F811C3-F29C-4FBF-8569-F9AA2F9DC4D5}">
      <dgm:prSet/>
      <dgm:spPr/>
      <dgm:t>
        <a:bodyPr/>
        <a:lstStyle/>
        <a:p>
          <a:endParaRPr lang="en-US"/>
        </a:p>
      </dgm:t>
    </dgm:pt>
    <dgm:pt modelId="{69040D97-2A00-4DF7-A9A0-918DF2CB9791}" type="pres">
      <dgm:prSet presAssocID="{9FA8530B-034A-4739-A083-B9C0872B4354}" presName="root" presStyleCnt="0">
        <dgm:presLayoutVars>
          <dgm:dir/>
          <dgm:resizeHandles val="exact"/>
        </dgm:presLayoutVars>
      </dgm:prSet>
      <dgm:spPr/>
    </dgm:pt>
    <dgm:pt modelId="{EE96BB6D-9953-4C1D-A838-4320B6446925}" type="pres">
      <dgm:prSet presAssocID="{9FA8530B-034A-4739-A083-B9C0872B4354}" presName="container" presStyleCnt="0">
        <dgm:presLayoutVars>
          <dgm:dir/>
          <dgm:resizeHandles val="exact"/>
        </dgm:presLayoutVars>
      </dgm:prSet>
      <dgm:spPr/>
    </dgm:pt>
    <dgm:pt modelId="{76CE4001-E397-4720-9CB9-1626C9A527C7}" type="pres">
      <dgm:prSet presAssocID="{9FC6117E-4487-4CAC-8FD7-707554A9A392}" presName="compNode" presStyleCnt="0"/>
      <dgm:spPr/>
    </dgm:pt>
    <dgm:pt modelId="{FE084149-BAE8-44EE-8275-ED7D090D53BD}" type="pres">
      <dgm:prSet presAssocID="{9FC6117E-4487-4CAC-8FD7-707554A9A392}" presName="iconBgRect" presStyleLbl="bgShp" presStyleIdx="0" presStyleCnt="4"/>
      <dgm:spPr/>
    </dgm:pt>
    <dgm:pt modelId="{AC66CAD3-2CFD-4A95-8C52-B0F58746F113}" type="pres">
      <dgm:prSet presAssocID="{9FC6117E-4487-4CAC-8FD7-707554A9A39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8BFF17BF-44A6-4A9D-B56E-79C14F37F674}" type="pres">
      <dgm:prSet presAssocID="{9FC6117E-4487-4CAC-8FD7-707554A9A392}" presName="spaceRect" presStyleCnt="0"/>
      <dgm:spPr/>
    </dgm:pt>
    <dgm:pt modelId="{9FC0E8E7-9E5E-41DA-92C5-325CB5015E80}" type="pres">
      <dgm:prSet presAssocID="{9FC6117E-4487-4CAC-8FD7-707554A9A392}" presName="textRect" presStyleLbl="revTx" presStyleIdx="0" presStyleCnt="4">
        <dgm:presLayoutVars>
          <dgm:chMax val="1"/>
          <dgm:chPref val="1"/>
        </dgm:presLayoutVars>
      </dgm:prSet>
      <dgm:spPr/>
    </dgm:pt>
    <dgm:pt modelId="{C05B6FF3-9F2A-4C01-9749-317D40E93B98}" type="pres">
      <dgm:prSet presAssocID="{E6996008-E840-4D48-9183-BBE8A164BED5}" presName="sibTrans" presStyleLbl="sibTrans2D1" presStyleIdx="0" presStyleCnt="0"/>
      <dgm:spPr/>
    </dgm:pt>
    <dgm:pt modelId="{CE90463D-5CE8-4C8F-ADCB-47E86DF0B87C}" type="pres">
      <dgm:prSet presAssocID="{B41EDD99-3CBF-478E-BA20-584A85363134}" presName="compNode" presStyleCnt="0"/>
      <dgm:spPr/>
    </dgm:pt>
    <dgm:pt modelId="{3A5385DA-BEE6-4B03-A528-77C7F1AA0478}" type="pres">
      <dgm:prSet presAssocID="{B41EDD99-3CBF-478E-BA20-584A85363134}" presName="iconBgRect" presStyleLbl="bgShp" presStyleIdx="1" presStyleCnt="4"/>
      <dgm:spPr/>
    </dgm:pt>
    <dgm:pt modelId="{02C0F5FA-9EE5-41CF-8021-34E879B44DE2}" type="pres">
      <dgm:prSet presAssocID="{B41EDD99-3CBF-478E-BA20-584A8536313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x trolley"/>
        </a:ext>
      </dgm:extLst>
    </dgm:pt>
    <dgm:pt modelId="{F5C2AFEC-0F0C-4C41-B37F-448BAA7F8B7B}" type="pres">
      <dgm:prSet presAssocID="{B41EDD99-3CBF-478E-BA20-584A85363134}" presName="spaceRect" presStyleCnt="0"/>
      <dgm:spPr/>
    </dgm:pt>
    <dgm:pt modelId="{829EA87C-D108-4F29-8DE9-EE0B99F470AC}" type="pres">
      <dgm:prSet presAssocID="{B41EDD99-3CBF-478E-BA20-584A85363134}" presName="textRect" presStyleLbl="revTx" presStyleIdx="1" presStyleCnt="4">
        <dgm:presLayoutVars>
          <dgm:chMax val="1"/>
          <dgm:chPref val="1"/>
        </dgm:presLayoutVars>
      </dgm:prSet>
      <dgm:spPr/>
    </dgm:pt>
    <dgm:pt modelId="{D7885D0E-AB44-4FEA-B6A9-7B49657F37DC}" type="pres">
      <dgm:prSet presAssocID="{73B8FA95-67CF-422F-A478-852564FEEE92}" presName="sibTrans" presStyleLbl="sibTrans2D1" presStyleIdx="0" presStyleCnt="0"/>
      <dgm:spPr/>
    </dgm:pt>
    <dgm:pt modelId="{7BE12C0C-BF23-432E-BF8E-A56773083B09}" type="pres">
      <dgm:prSet presAssocID="{CF745458-A950-4368-BADB-7A9F057C0938}" presName="compNode" presStyleCnt="0"/>
      <dgm:spPr/>
    </dgm:pt>
    <dgm:pt modelId="{4DE10B99-55FC-4817-ABD8-4395DB010ED4}" type="pres">
      <dgm:prSet presAssocID="{CF745458-A950-4368-BADB-7A9F057C0938}" presName="iconBgRect" presStyleLbl="bgShp" presStyleIdx="2" presStyleCnt="4"/>
      <dgm:spPr/>
    </dgm:pt>
    <dgm:pt modelId="{8FA223A4-073B-4A2A-8FB5-7C063ABE94F6}" type="pres">
      <dgm:prSet presAssocID="{CF745458-A950-4368-BADB-7A9F057C093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opping basket"/>
        </a:ext>
      </dgm:extLst>
    </dgm:pt>
    <dgm:pt modelId="{7A22B7BB-78A5-47FC-A91A-FFEB9C4987C6}" type="pres">
      <dgm:prSet presAssocID="{CF745458-A950-4368-BADB-7A9F057C0938}" presName="spaceRect" presStyleCnt="0"/>
      <dgm:spPr/>
    </dgm:pt>
    <dgm:pt modelId="{F1E7F24D-E418-4949-8C94-FC35919A1CC1}" type="pres">
      <dgm:prSet presAssocID="{CF745458-A950-4368-BADB-7A9F057C0938}" presName="textRect" presStyleLbl="revTx" presStyleIdx="2" presStyleCnt="4">
        <dgm:presLayoutVars>
          <dgm:chMax val="1"/>
          <dgm:chPref val="1"/>
        </dgm:presLayoutVars>
      </dgm:prSet>
      <dgm:spPr/>
    </dgm:pt>
    <dgm:pt modelId="{D14E3B8D-887D-4272-85EE-F45DE72C1385}" type="pres">
      <dgm:prSet presAssocID="{4917E2FF-1E41-4779-B18A-1B09B5C67BCD}" presName="sibTrans" presStyleLbl="sibTrans2D1" presStyleIdx="0" presStyleCnt="0"/>
      <dgm:spPr/>
    </dgm:pt>
    <dgm:pt modelId="{9D4D1533-0E7F-4613-A667-A3C25F8C1883}" type="pres">
      <dgm:prSet presAssocID="{08572B75-F770-4C0B-8F66-E059BE64C721}" presName="compNode" presStyleCnt="0"/>
      <dgm:spPr/>
    </dgm:pt>
    <dgm:pt modelId="{58502E76-4ADC-4AC7-9630-4CC444FEB441}" type="pres">
      <dgm:prSet presAssocID="{08572B75-F770-4C0B-8F66-E059BE64C721}" presName="iconBgRect" presStyleLbl="bgShp" presStyleIdx="3" presStyleCnt="4"/>
      <dgm:spPr/>
    </dgm:pt>
    <dgm:pt modelId="{940D3320-AAF6-4B0F-9931-F46A503B76D7}" type="pres">
      <dgm:prSet presAssocID="{08572B75-F770-4C0B-8F66-E059BE64C72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pward trend"/>
        </a:ext>
      </dgm:extLst>
    </dgm:pt>
    <dgm:pt modelId="{03791E0A-303A-495B-821D-A6F0805542A0}" type="pres">
      <dgm:prSet presAssocID="{08572B75-F770-4C0B-8F66-E059BE64C721}" presName="spaceRect" presStyleCnt="0"/>
      <dgm:spPr/>
    </dgm:pt>
    <dgm:pt modelId="{E4BA7F0C-0F2D-4791-8C21-9171F76D7EF0}" type="pres">
      <dgm:prSet presAssocID="{08572B75-F770-4C0B-8F66-E059BE64C721}" presName="textRect" presStyleLbl="revTx" presStyleIdx="3" presStyleCnt="4">
        <dgm:presLayoutVars>
          <dgm:chMax val="1"/>
          <dgm:chPref val="1"/>
        </dgm:presLayoutVars>
      </dgm:prSet>
      <dgm:spPr/>
    </dgm:pt>
  </dgm:ptLst>
  <dgm:cxnLst>
    <dgm:cxn modelId="{7FDA6C22-4C72-41D8-B0AD-B42FB40B3997}" srcId="{9FA8530B-034A-4739-A083-B9C0872B4354}" destId="{08572B75-F770-4C0B-8F66-E059BE64C721}" srcOrd="3" destOrd="0" parTransId="{6DA0672A-8F0C-4098-A16E-D6E043868169}" sibTransId="{09F72126-0A57-4D22-B0BB-76112D48FFB4}"/>
    <dgm:cxn modelId="{0F3A6830-6E5E-4964-85FE-165FBB1B3327}" srcId="{9FA8530B-034A-4739-A083-B9C0872B4354}" destId="{B41EDD99-3CBF-478E-BA20-584A85363134}" srcOrd="1" destOrd="0" parTransId="{5B7824EE-1765-455C-95E7-582BB05F1185}" sibTransId="{73B8FA95-67CF-422F-A478-852564FEEE92}"/>
    <dgm:cxn modelId="{A1E33464-EFBD-4D7C-9FF4-6A975565A624}" type="presOf" srcId="{9FC6117E-4487-4CAC-8FD7-707554A9A392}" destId="{9FC0E8E7-9E5E-41DA-92C5-325CB5015E80}" srcOrd="0" destOrd="0" presId="urn:microsoft.com/office/officeart/2018/2/layout/IconCircleList"/>
    <dgm:cxn modelId="{6ACDF36A-C9EC-4500-BB67-59DDF3E9D2E3}" type="presOf" srcId="{4917E2FF-1E41-4779-B18A-1B09B5C67BCD}" destId="{D14E3B8D-887D-4272-85EE-F45DE72C1385}" srcOrd="0" destOrd="0" presId="urn:microsoft.com/office/officeart/2018/2/layout/IconCircleList"/>
    <dgm:cxn modelId="{EABD3E8C-DE60-4BE7-8B30-D700A8F8A6CF}" type="presOf" srcId="{E6996008-E840-4D48-9183-BBE8A164BED5}" destId="{C05B6FF3-9F2A-4C01-9749-317D40E93B98}" srcOrd="0" destOrd="0" presId="urn:microsoft.com/office/officeart/2018/2/layout/IconCircleList"/>
    <dgm:cxn modelId="{A08AEAA7-2286-40B8-B89D-87059C19FC0E}" type="presOf" srcId="{9FA8530B-034A-4739-A083-B9C0872B4354}" destId="{69040D97-2A00-4DF7-A9A0-918DF2CB9791}" srcOrd="0" destOrd="0" presId="urn:microsoft.com/office/officeart/2018/2/layout/IconCircleList"/>
    <dgm:cxn modelId="{C726ADB9-158D-4CC0-A717-D3EB0F06BF78}" type="presOf" srcId="{CF745458-A950-4368-BADB-7A9F057C0938}" destId="{F1E7F24D-E418-4949-8C94-FC35919A1CC1}" srcOrd="0" destOrd="0" presId="urn:microsoft.com/office/officeart/2018/2/layout/IconCircleList"/>
    <dgm:cxn modelId="{05F811C3-F29C-4FBF-8569-F9AA2F9DC4D5}" srcId="{9FA8530B-034A-4739-A083-B9C0872B4354}" destId="{9FC6117E-4487-4CAC-8FD7-707554A9A392}" srcOrd="0" destOrd="0" parTransId="{CD748C32-5B70-4FDE-8096-E578F9FDDDF7}" sibTransId="{E6996008-E840-4D48-9183-BBE8A164BED5}"/>
    <dgm:cxn modelId="{EE7AC3DE-3F55-4C73-96FF-4E893C46BDF7}" type="presOf" srcId="{B41EDD99-3CBF-478E-BA20-584A85363134}" destId="{829EA87C-D108-4F29-8DE9-EE0B99F470AC}" srcOrd="0" destOrd="0" presId="urn:microsoft.com/office/officeart/2018/2/layout/IconCircleList"/>
    <dgm:cxn modelId="{80B4FCE5-97F7-40AE-B49E-8253A25E867D}" type="presOf" srcId="{73B8FA95-67CF-422F-A478-852564FEEE92}" destId="{D7885D0E-AB44-4FEA-B6A9-7B49657F37DC}" srcOrd="0" destOrd="0" presId="urn:microsoft.com/office/officeart/2018/2/layout/IconCircleList"/>
    <dgm:cxn modelId="{411566EF-99CC-4B87-A7D7-D70B07AE25B8}" srcId="{9FA8530B-034A-4739-A083-B9C0872B4354}" destId="{CF745458-A950-4368-BADB-7A9F057C0938}" srcOrd="2" destOrd="0" parTransId="{B1173B09-F471-4E17-8BD0-3B5955175E78}" sibTransId="{4917E2FF-1E41-4779-B18A-1B09B5C67BCD}"/>
    <dgm:cxn modelId="{C53E59EF-C3F3-4338-8532-BC8CC9CFC462}" type="presOf" srcId="{08572B75-F770-4C0B-8F66-E059BE64C721}" destId="{E4BA7F0C-0F2D-4791-8C21-9171F76D7EF0}" srcOrd="0" destOrd="0" presId="urn:microsoft.com/office/officeart/2018/2/layout/IconCircleList"/>
    <dgm:cxn modelId="{63A60A91-6576-4EE9-98F5-519401D65CB8}" type="presParOf" srcId="{69040D97-2A00-4DF7-A9A0-918DF2CB9791}" destId="{EE96BB6D-9953-4C1D-A838-4320B6446925}" srcOrd="0" destOrd="0" presId="urn:microsoft.com/office/officeart/2018/2/layout/IconCircleList"/>
    <dgm:cxn modelId="{7755395E-C9A7-4C6B-B153-F887B870F1FF}" type="presParOf" srcId="{EE96BB6D-9953-4C1D-A838-4320B6446925}" destId="{76CE4001-E397-4720-9CB9-1626C9A527C7}" srcOrd="0" destOrd="0" presId="urn:microsoft.com/office/officeart/2018/2/layout/IconCircleList"/>
    <dgm:cxn modelId="{4B5E262C-1F4A-43A8-9187-A85E57B5A2AE}" type="presParOf" srcId="{76CE4001-E397-4720-9CB9-1626C9A527C7}" destId="{FE084149-BAE8-44EE-8275-ED7D090D53BD}" srcOrd="0" destOrd="0" presId="urn:microsoft.com/office/officeart/2018/2/layout/IconCircleList"/>
    <dgm:cxn modelId="{4CD6EC99-6BBD-4769-B5A4-56C09A7FE6DE}" type="presParOf" srcId="{76CE4001-E397-4720-9CB9-1626C9A527C7}" destId="{AC66CAD3-2CFD-4A95-8C52-B0F58746F113}" srcOrd="1" destOrd="0" presId="urn:microsoft.com/office/officeart/2018/2/layout/IconCircleList"/>
    <dgm:cxn modelId="{F369F03F-E67E-4874-BD56-CAED0C7E3EE5}" type="presParOf" srcId="{76CE4001-E397-4720-9CB9-1626C9A527C7}" destId="{8BFF17BF-44A6-4A9D-B56E-79C14F37F674}" srcOrd="2" destOrd="0" presId="urn:microsoft.com/office/officeart/2018/2/layout/IconCircleList"/>
    <dgm:cxn modelId="{34FB5350-1A49-4095-8B1D-EA22A7D4DB86}" type="presParOf" srcId="{76CE4001-E397-4720-9CB9-1626C9A527C7}" destId="{9FC0E8E7-9E5E-41DA-92C5-325CB5015E80}" srcOrd="3" destOrd="0" presId="urn:microsoft.com/office/officeart/2018/2/layout/IconCircleList"/>
    <dgm:cxn modelId="{61891FB3-1346-4D01-B928-3FEF4EBAD194}" type="presParOf" srcId="{EE96BB6D-9953-4C1D-A838-4320B6446925}" destId="{C05B6FF3-9F2A-4C01-9749-317D40E93B98}" srcOrd="1" destOrd="0" presId="urn:microsoft.com/office/officeart/2018/2/layout/IconCircleList"/>
    <dgm:cxn modelId="{D19DB8D4-DFF1-4678-82EE-AC7AB1C91260}" type="presParOf" srcId="{EE96BB6D-9953-4C1D-A838-4320B6446925}" destId="{CE90463D-5CE8-4C8F-ADCB-47E86DF0B87C}" srcOrd="2" destOrd="0" presId="urn:microsoft.com/office/officeart/2018/2/layout/IconCircleList"/>
    <dgm:cxn modelId="{BF814140-B251-4B7F-B6EB-DEB9717DAD48}" type="presParOf" srcId="{CE90463D-5CE8-4C8F-ADCB-47E86DF0B87C}" destId="{3A5385DA-BEE6-4B03-A528-77C7F1AA0478}" srcOrd="0" destOrd="0" presId="urn:microsoft.com/office/officeart/2018/2/layout/IconCircleList"/>
    <dgm:cxn modelId="{57DCF2C2-E3FB-4C74-880B-DFA7D770BFB5}" type="presParOf" srcId="{CE90463D-5CE8-4C8F-ADCB-47E86DF0B87C}" destId="{02C0F5FA-9EE5-41CF-8021-34E879B44DE2}" srcOrd="1" destOrd="0" presId="urn:microsoft.com/office/officeart/2018/2/layout/IconCircleList"/>
    <dgm:cxn modelId="{2EFBC276-85EE-4CE0-AB51-1DD7BF3CCA8D}" type="presParOf" srcId="{CE90463D-5CE8-4C8F-ADCB-47E86DF0B87C}" destId="{F5C2AFEC-0F0C-4C41-B37F-448BAA7F8B7B}" srcOrd="2" destOrd="0" presId="urn:microsoft.com/office/officeart/2018/2/layout/IconCircleList"/>
    <dgm:cxn modelId="{7C0256BA-D1AC-4AF4-AE50-0DC82F468C78}" type="presParOf" srcId="{CE90463D-5CE8-4C8F-ADCB-47E86DF0B87C}" destId="{829EA87C-D108-4F29-8DE9-EE0B99F470AC}" srcOrd="3" destOrd="0" presId="urn:microsoft.com/office/officeart/2018/2/layout/IconCircleList"/>
    <dgm:cxn modelId="{559407B0-6761-49D0-9E26-1439AB32C1EA}" type="presParOf" srcId="{EE96BB6D-9953-4C1D-A838-4320B6446925}" destId="{D7885D0E-AB44-4FEA-B6A9-7B49657F37DC}" srcOrd="3" destOrd="0" presId="urn:microsoft.com/office/officeart/2018/2/layout/IconCircleList"/>
    <dgm:cxn modelId="{502E3FD5-CE31-471C-B7DA-CEBC4202E566}" type="presParOf" srcId="{EE96BB6D-9953-4C1D-A838-4320B6446925}" destId="{7BE12C0C-BF23-432E-BF8E-A56773083B09}" srcOrd="4" destOrd="0" presId="urn:microsoft.com/office/officeart/2018/2/layout/IconCircleList"/>
    <dgm:cxn modelId="{36A9A194-42E4-4430-9305-7F387E62F26C}" type="presParOf" srcId="{7BE12C0C-BF23-432E-BF8E-A56773083B09}" destId="{4DE10B99-55FC-4817-ABD8-4395DB010ED4}" srcOrd="0" destOrd="0" presId="urn:microsoft.com/office/officeart/2018/2/layout/IconCircleList"/>
    <dgm:cxn modelId="{C26A0244-CF3E-4DD2-9AA6-BD99659A8701}" type="presParOf" srcId="{7BE12C0C-BF23-432E-BF8E-A56773083B09}" destId="{8FA223A4-073B-4A2A-8FB5-7C063ABE94F6}" srcOrd="1" destOrd="0" presId="urn:microsoft.com/office/officeart/2018/2/layout/IconCircleList"/>
    <dgm:cxn modelId="{B87A66DC-1F54-47B5-9250-060230AB3378}" type="presParOf" srcId="{7BE12C0C-BF23-432E-BF8E-A56773083B09}" destId="{7A22B7BB-78A5-47FC-A91A-FFEB9C4987C6}" srcOrd="2" destOrd="0" presId="urn:microsoft.com/office/officeart/2018/2/layout/IconCircleList"/>
    <dgm:cxn modelId="{1EF64C82-5C27-4616-B5D3-642372D2DB9D}" type="presParOf" srcId="{7BE12C0C-BF23-432E-BF8E-A56773083B09}" destId="{F1E7F24D-E418-4949-8C94-FC35919A1CC1}" srcOrd="3" destOrd="0" presId="urn:microsoft.com/office/officeart/2018/2/layout/IconCircleList"/>
    <dgm:cxn modelId="{48785170-09E2-4C2B-81F7-72907F1BD74B}" type="presParOf" srcId="{EE96BB6D-9953-4C1D-A838-4320B6446925}" destId="{D14E3B8D-887D-4272-85EE-F45DE72C1385}" srcOrd="5" destOrd="0" presId="urn:microsoft.com/office/officeart/2018/2/layout/IconCircleList"/>
    <dgm:cxn modelId="{F195D2D0-7743-4866-8AF1-6C668872D3DE}" type="presParOf" srcId="{EE96BB6D-9953-4C1D-A838-4320B6446925}" destId="{9D4D1533-0E7F-4613-A667-A3C25F8C1883}" srcOrd="6" destOrd="0" presId="urn:microsoft.com/office/officeart/2018/2/layout/IconCircleList"/>
    <dgm:cxn modelId="{5EEA21F1-63AE-4E26-B669-D4B02002CD69}" type="presParOf" srcId="{9D4D1533-0E7F-4613-A667-A3C25F8C1883}" destId="{58502E76-4ADC-4AC7-9630-4CC444FEB441}" srcOrd="0" destOrd="0" presId="urn:microsoft.com/office/officeart/2018/2/layout/IconCircleList"/>
    <dgm:cxn modelId="{86CC7434-BA90-4AB9-86A8-E0172B000085}" type="presParOf" srcId="{9D4D1533-0E7F-4613-A667-A3C25F8C1883}" destId="{940D3320-AAF6-4B0F-9931-F46A503B76D7}" srcOrd="1" destOrd="0" presId="urn:microsoft.com/office/officeart/2018/2/layout/IconCircleList"/>
    <dgm:cxn modelId="{860F8A7D-0BE9-42F6-92DE-9E88D92B57E4}" type="presParOf" srcId="{9D4D1533-0E7F-4613-A667-A3C25F8C1883}" destId="{03791E0A-303A-495B-821D-A6F0805542A0}" srcOrd="2" destOrd="0" presId="urn:microsoft.com/office/officeart/2018/2/layout/IconCircleList"/>
    <dgm:cxn modelId="{79C0A0F4-58AE-4FE3-8691-414CCF3F790E}" type="presParOf" srcId="{9D4D1533-0E7F-4613-A667-A3C25F8C1883}" destId="{E4BA7F0C-0F2D-4791-8C21-9171F76D7EF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8977A3-7785-4DDD-BD1E-ED572C311944}" type="doc">
      <dgm:prSet loTypeId="urn:microsoft.com/office/officeart/2005/8/layout/vProcess5" loCatId="process" qsTypeId="urn:microsoft.com/office/officeart/2005/8/quickstyle/simple5" qsCatId="simple" csTypeId="urn:microsoft.com/office/officeart/2005/8/colors/colorful2" csCatId="colorful" phldr="1"/>
      <dgm:spPr/>
      <dgm:t>
        <a:bodyPr/>
        <a:lstStyle/>
        <a:p>
          <a:endParaRPr lang="en-US"/>
        </a:p>
      </dgm:t>
    </dgm:pt>
    <dgm:pt modelId="{114D1196-52B0-4590-86DF-D58C721732C2}">
      <dgm:prSet/>
      <dgm:spPr/>
      <dgm:t>
        <a:bodyPr/>
        <a:lstStyle/>
        <a:p>
          <a:pPr>
            <a:lnSpc>
              <a:spcPct val="100000"/>
            </a:lnSpc>
          </a:pPr>
          <a:r>
            <a:rPr lang="en-US" b="1"/>
            <a:t>Key Findings:</a:t>
          </a:r>
          <a:endParaRPr lang="en-US"/>
        </a:p>
      </dgm:t>
    </dgm:pt>
    <dgm:pt modelId="{4F9DF816-1E6C-40C0-BCCF-7CB974389545}" type="parTrans" cxnId="{DE2F8F44-D1ED-412E-BBB1-A9B2A3104EE9}">
      <dgm:prSet/>
      <dgm:spPr/>
      <dgm:t>
        <a:bodyPr/>
        <a:lstStyle/>
        <a:p>
          <a:endParaRPr lang="en-US"/>
        </a:p>
      </dgm:t>
    </dgm:pt>
    <dgm:pt modelId="{E95DBD55-64C5-4054-9FBD-ECF38A57B88E}" type="sibTrans" cxnId="{DE2F8F44-D1ED-412E-BBB1-A9B2A3104EE9}">
      <dgm:prSet/>
      <dgm:spPr/>
      <dgm:t>
        <a:bodyPr/>
        <a:lstStyle/>
        <a:p>
          <a:endParaRPr lang="en-US"/>
        </a:p>
      </dgm:t>
    </dgm:pt>
    <dgm:pt modelId="{C4065F11-F865-4046-B99B-FF6402CBF42D}">
      <dgm:prSet custT="1"/>
      <dgm:spPr/>
      <dgm:t>
        <a:bodyPr/>
        <a:lstStyle/>
        <a:p>
          <a:r>
            <a:rPr lang="en-US" sz="1800" b="1" dirty="0"/>
            <a:t>Electronics</a:t>
          </a:r>
          <a:r>
            <a:rPr lang="en-US" sz="1800" dirty="0"/>
            <a:t> consistently had the highest sales, regardless of seasonal changes or inflation. Since this category topped every data insight, it’s recommended to </a:t>
          </a:r>
          <a:r>
            <a:rPr lang="en-US" sz="1800" b="1" dirty="0"/>
            <a:t>keep inventory levels as high as possible</a:t>
          </a:r>
          <a:r>
            <a:rPr lang="en-US" sz="1800" dirty="0"/>
            <a:t> to avoid understocking.</a:t>
          </a:r>
        </a:p>
      </dgm:t>
    </dgm:pt>
    <dgm:pt modelId="{749BA445-A593-4A6A-A7EA-9DAF5E48D8BB}" type="parTrans" cxnId="{02F90D49-A2E1-438B-8719-8524370EB851}">
      <dgm:prSet/>
      <dgm:spPr/>
      <dgm:t>
        <a:bodyPr/>
        <a:lstStyle/>
        <a:p>
          <a:endParaRPr lang="en-US"/>
        </a:p>
      </dgm:t>
    </dgm:pt>
    <dgm:pt modelId="{AB3C7EC3-1BD2-4C7E-9F13-58EDBC466FC2}" type="sibTrans" cxnId="{02F90D49-A2E1-438B-8719-8524370EB851}">
      <dgm:prSet/>
      <dgm:spPr/>
      <dgm:t>
        <a:bodyPr/>
        <a:lstStyle/>
        <a:p>
          <a:endParaRPr lang="en-US"/>
        </a:p>
      </dgm:t>
    </dgm:pt>
    <dgm:pt modelId="{2FF5C33F-0D37-48D1-8E46-2F6AB792317D}">
      <dgm:prSet custT="1"/>
      <dgm:spPr/>
      <dgm:t>
        <a:bodyPr/>
        <a:lstStyle/>
        <a:p>
          <a:r>
            <a:rPr lang="en-US" sz="1800" b="1"/>
            <a:t>Home Appliances</a:t>
          </a:r>
          <a:r>
            <a:rPr lang="en-US" sz="1800"/>
            <a:t> ranked second in sales, but primarily </a:t>
          </a:r>
          <a:r>
            <a:rPr lang="en-US" sz="1800" b="1"/>
            <a:t>during promotional periods</a:t>
          </a:r>
          <a:r>
            <a:rPr lang="en-US" sz="1800"/>
            <a:t>. Outside of promotions, sales were lower, so inventory should be maintained at an </a:t>
          </a:r>
          <a:r>
            <a:rPr lang="en-US" sz="1800" b="1"/>
            <a:t>optimal level</a:t>
          </a:r>
          <a:r>
            <a:rPr lang="en-US" sz="1800"/>
            <a:t> to prevent overstocking</a:t>
          </a:r>
          <a:r>
            <a:rPr lang="en-US" sz="1400"/>
            <a:t>.</a:t>
          </a:r>
          <a:endParaRPr lang="en-US" sz="1400" dirty="0"/>
        </a:p>
      </dgm:t>
    </dgm:pt>
    <dgm:pt modelId="{C4C11F54-3449-47C4-A046-B0B60C975B97}" type="parTrans" cxnId="{D88AD1B7-DB5D-47A1-9880-EE7A2DE551A3}">
      <dgm:prSet/>
      <dgm:spPr/>
      <dgm:t>
        <a:bodyPr/>
        <a:lstStyle/>
        <a:p>
          <a:endParaRPr lang="en-US"/>
        </a:p>
      </dgm:t>
    </dgm:pt>
    <dgm:pt modelId="{3525928F-0EA5-40A1-AE6E-98FD30C2847F}" type="sibTrans" cxnId="{D88AD1B7-DB5D-47A1-9880-EE7A2DE551A3}">
      <dgm:prSet/>
      <dgm:spPr/>
      <dgm:t>
        <a:bodyPr/>
        <a:lstStyle/>
        <a:p>
          <a:endParaRPr lang="en-US"/>
        </a:p>
      </dgm:t>
    </dgm:pt>
    <dgm:pt modelId="{2EFC09A9-EC97-439D-BB9C-A61D08166098}">
      <dgm:prSet custT="1"/>
      <dgm:spPr/>
      <dgm:t>
        <a:bodyPr/>
        <a:lstStyle/>
        <a:p>
          <a:r>
            <a:rPr lang="en-US" sz="1600" b="1"/>
            <a:t>Smartphones and Laptops</a:t>
          </a:r>
          <a:r>
            <a:rPr lang="en-US" sz="1600"/>
            <a:t> showed steady sales throughout the year, whether there were promotions or not. While they didn’t experience massive spikes, they remained consistently in demand. The best approach here is to </a:t>
          </a:r>
          <a:r>
            <a:rPr lang="en-US" sz="1600" b="1"/>
            <a:t>keep stock at a balanced level</a:t>
          </a:r>
          <a:r>
            <a:rPr lang="en-US" sz="1600"/>
            <a:t>, ensuring availability without overstocking</a:t>
          </a:r>
          <a:r>
            <a:rPr lang="en-US" sz="1400"/>
            <a:t>.</a:t>
          </a:r>
          <a:endParaRPr lang="en-US" sz="1400" dirty="0"/>
        </a:p>
      </dgm:t>
    </dgm:pt>
    <dgm:pt modelId="{4D53BACF-4BD8-4CEA-84B6-4B555E88D6ED}" type="parTrans" cxnId="{668A6116-0DBE-4E85-BEBD-76B50E036A8E}">
      <dgm:prSet/>
      <dgm:spPr/>
      <dgm:t>
        <a:bodyPr/>
        <a:lstStyle/>
        <a:p>
          <a:endParaRPr lang="en-US"/>
        </a:p>
      </dgm:t>
    </dgm:pt>
    <dgm:pt modelId="{C2157D1E-A1AC-48B2-8D5A-0E8B3FDFC322}" type="sibTrans" cxnId="{668A6116-0DBE-4E85-BEBD-76B50E036A8E}">
      <dgm:prSet/>
      <dgm:spPr/>
      <dgm:t>
        <a:bodyPr/>
        <a:lstStyle/>
        <a:p>
          <a:endParaRPr lang="en-US"/>
        </a:p>
      </dgm:t>
    </dgm:pt>
    <dgm:pt modelId="{B0F0F376-86DE-47AE-BC01-9F3B4BBADCA7}" type="pres">
      <dgm:prSet presAssocID="{7D8977A3-7785-4DDD-BD1E-ED572C311944}" presName="outerComposite" presStyleCnt="0">
        <dgm:presLayoutVars>
          <dgm:chMax val="5"/>
          <dgm:dir/>
          <dgm:resizeHandles val="exact"/>
        </dgm:presLayoutVars>
      </dgm:prSet>
      <dgm:spPr/>
    </dgm:pt>
    <dgm:pt modelId="{57379565-E39F-495C-8E41-3AB7342E7549}" type="pres">
      <dgm:prSet presAssocID="{7D8977A3-7785-4DDD-BD1E-ED572C311944}" presName="dummyMaxCanvas" presStyleCnt="0">
        <dgm:presLayoutVars/>
      </dgm:prSet>
      <dgm:spPr/>
    </dgm:pt>
    <dgm:pt modelId="{0033686A-1FA7-4EC0-B1C2-EE615C174B81}" type="pres">
      <dgm:prSet presAssocID="{7D8977A3-7785-4DDD-BD1E-ED572C311944}" presName="FourNodes_1" presStyleLbl="node1" presStyleIdx="0" presStyleCnt="4">
        <dgm:presLayoutVars>
          <dgm:bulletEnabled val="1"/>
        </dgm:presLayoutVars>
      </dgm:prSet>
      <dgm:spPr/>
    </dgm:pt>
    <dgm:pt modelId="{FAC228BF-BAC9-4130-ABE3-91A24F877D94}" type="pres">
      <dgm:prSet presAssocID="{7D8977A3-7785-4DDD-BD1E-ED572C311944}" presName="FourNodes_2" presStyleLbl="node1" presStyleIdx="1" presStyleCnt="4" custScaleX="101781" custScaleY="122235">
        <dgm:presLayoutVars>
          <dgm:bulletEnabled val="1"/>
        </dgm:presLayoutVars>
      </dgm:prSet>
      <dgm:spPr/>
    </dgm:pt>
    <dgm:pt modelId="{A6F3C10A-D0CD-4B8A-8E0C-C116F501BF72}" type="pres">
      <dgm:prSet presAssocID="{7D8977A3-7785-4DDD-BD1E-ED572C311944}" presName="FourNodes_3" presStyleLbl="node1" presStyleIdx="2" presStyleCnt="4">
        <dgm:presLayoutVars>
          <dgm:bulletEnabled val="1"/>
        </dgm:presLayoutVars>
      </dgm:prSet>
      <dgm:spPr/>
    </dgm:pt>
    <dgm:pt modelId="{C615C9C3-C03E-4714-99CB-EAA496D8C763}" type="pres">
      <dgm:prSet presAssocID="{7D8977A3-7785-4DDD-BD1E-ED572C311944}" presName="FourNodes_4" presStyleLbl="node1" presStyleIdx="3" presStyleCnt="4">
        <dgm:presLayoutVars>
          <dgm:bulletEnabled val="1"/>
        </dgm:presLayoutVars>
      </dgm:prSet>
      <dgm:spPr/>
    </dgm:pt>
    <dgm:pt modelId="{A89425CE-4B8D-4274-B535-F11745907056}" type="pres">
      <dgm:prSet presAssocID="{7D8977A3-7785-4DDD-BD1E-ED572C311944}" presName="FourConn_1-2" presStyleLbl="fgAccFollowNode1" presStyleIdx="0" presStyleCnt="3">
        <dgm:presLayoutVars>
          <dgm:bulletEnabled val="1"/>
        </dgm:presLayoutVars>
      </dgm:prSet>
      <dgm:spPr/>
    </dgm:pt>
    <dgm:pt modelId="{89719779-CBE2-494D-85A3-FA4C7580EE0E}" type="pres">
      <dgm:prSet presAssocID="{7D8977A3-7785-4DDD-BD1E-ED572C311944}" presName="FourConn_2-3" presStyleLbl="fgAccFollowNode1" presStyleIdx="1" presStyleCnt="3">
        <dgm:presLayoutVars>
          <dgm:bulletEnabled val="1"/>
        </dgm:presLayoutVars>
      </dgm:prSet>
      <dgm:spPr/>
    </dgm:pt>
    <dgm:pt modelId="{7F881C63-6A2C-48C0-A63E-769649352711}" type="pres">
      <dgm:prSet presAssocID="{7D8977A3-7785-4DDD-BD1E-ED572C311944}" presName="FourConn_3-4" presStyleLbl="fgAccFollowNode1" presStyleIdx="2" presStyleCnt="3">
        <dgm:presLayoutVars>
          <dgm:bulletEnabled val="1"/>
        </dgm:presLayoutVars>
      </dgm:prSet>
      <dgm:spPr/>
    </dgm:pt>
    <dgm:pt modelId="{0512C1CF-F49D-4B9B-9F86-721F0E909ECB}" type="pres">
      <dgm:prSet presAssocID="{7D8977A3-7785-4DDD-BD1E-ED572C311944}" presName="FourNodes_1_text" presStyleLbl="node1" presStyleIdx="3" presStyleCnt="4">
        <dgm:presLayoutVars>
          <dgm:bulletEnabled val="1"/>
        </dgm:presLayoutVars>
      </dgm:prSet>
      <dgm:spPr/>
    </dgm:pt>
    <dgm:pt modelId="{25D5ADA0-3135-4657-90B9-AFE9D764D2D8}" type="pres">
      <dgm:prSet presAssocID="{7D8977A3-7785-4DDD-BD1E-ED572C311944}" presName="FourNodes_2_text" presStyleLbl="node1" presStyleIdx="3" presStyleCnt="4">
        <dgm:presLayoutVars>
          <dgm:bulletEnabled val="1"/>
        </dgm:presLayoutVars>
      </dgm:prSet>
      <dgm:spPr/>
    </dgm:pt>
    <dgm:pt modelId="{F049E83F-D0CE-40A4-ABE9-10CA930ED96C}" type="pres">
      <dgm:prSet presAssocID="{7D8977A3-7785-4DDD-BD1E-ED572C311944}" presName="FourNodes_3_text" presStyleLbl="node1" presStyleIdx="3" presStyleCnt="4">
        <dgm:presLayoutVars>
          <dgm:bulletEnabled val="1"/>
        </dgm:presLayoutVars>
      </dgm:prSet>
      <dgm:spPr/>
    </dgm:pt>
    <dgm:pt modelId="{0F2BBAE2-3D98-4AAB-ACE8-C5A8C31395CE}" type="pres">
      <dgm:prSet presAssocID="{7D8977A3-7785-4DDD-BD1E-ED572C311944}" presName="FourNodes_4_text" presStyleLbl="node1" presStyleIdx="3" presStyleCnt="4">
        <dgm:presLayoutVars>
          <dgm:bulletEnabled val="1"/>
        </dgm:presLayoutVars>
      </dgm:prSet>
      <dgm:spPr/>
    </dgm:pt>
  </dgm:ptLst>
  <dgm:cxnLst>
    <dgm:cxn modelId="{668A6116-0DBE-4E85-BEBD-76B50E036A8E}" srcId="{7D8977A3-7785-4DDD-BD1E-ED572C311944}" destId="{2EFC09A9-EC97-439D-BB9C-A61D08166098}" srcOrd="3" destOrd="0" parTransId="{4D53BACF-4BD8-4CEA-84B6-4B555E88D6ED}" sibTransId="{C2157D1E-A1AC-48B2-8D5A-0E8B3FDFC322}"/>
    <dgm:cxn modelId="{9EB44F31-7631-4056-8957-D2F627BF94AC}" type="presOf" srcId="{2EFC09A9-EC97-439D-BB9C-A61D08166098}" destId="{C615C9C3-C03E-4714-99CB-EAA496D8C763}" srcOrd="0" destOrd="0" presId="urn:microsoft.com/office/officeart/2005/8/layout/vProcess5"/>
    <dgm:cxn modelId="{3B381632-A636-4C02-B9EF-9541FDF599D2}" type="presOf" srcId="{2FF5C33F-0D37-48D1-8E46-2F6AB792317D}" destId="{F049E83F-D0CE-40A4-ABE9-10CA930ED96C}" srcOrd="1" destOrd="0" presId="urn:microsoft.com/office/officeart/2005/8/layout/vProcess5"/>
    <dgm:cxn modelId="{DE2F8F44-D1ED-412E-BBB1-A9B2A3104EE9}" srcId="{7D8977A3-7785-4DDD-BD1E-ED572C311944}" destId="{114D1196-52B0-4590-86DF-D58C721732C2}" srcOrd="0" destOrd="0" parTransId="{4F9DF816-1E6C-40C0-BCCF-7CB974389545}" sibTransId="{E95DBD55-64C5-4054-9FBD-ECF38A57B88E}"/>
    <dgm:cxn modelId="{02F90D49-A2E1-438B-8719-8524370EB851}" srcId="{7D8977A3-7785-4DDD-BD1E-ED572C311944}" destId="{C4065F11-F865-4046-B99B-FF6402CBF42D}" srcOrd="1" destOrd="0" parTransId="{749BA445-A593-4A6A-A7EA-9DAF5E48D8BB}" sibTransId="{AB3C7EC3-1BD2-4C7E-9F13-58EDBC466FC2}"/>
    <dgm:cxn modelId="{151A026B-5D78-4CD0-84C0-668B9778AFD3}" type="presOf" srcId="{C4065F11-F865-4046-B99B-FF6402CBF42D}" destId="{FAC228BF-BAC9-4130-ABE3-91A24F877D94}" srcOrd="0" destOrd="0" presId="urn:microsoft.com/office/officeart/2005/8/layout/vProcess5"/>
    <dgm:cxn modelId="{9BC64250-86B6-47E4-99BE-322896786826}" type="presOf" srcId="{3525928F-0EA5-40A1-AE6E-98FD30C2847F}" destId="{7F881C63-6A2C-48C0-A63E-769649352711}" srcOrd="0" destOrd="0" presId="urn:microsoft.com/office/officeart/2005/8/layout/vProcess5"/>
    <dgm:cxn modelId="{2264AC72-D72C-4BBB-996B-CF2FD5144E1E}" type="presOf" srcId="{AB3C7EC3-1BD2-4C7E-9F13-58EDBC466FC2}" destId="{89719779-CBE2-494D-85A3-FA4C7580EE0E}" srcOrd="0" destOrd="0" presId="urn:microsoft.com/office/officeart/2005/8/layout/vProcess5"/>
    <dgm:cxn modelId="{52F3CB56-3EE4-4878-A24B-9A32282FA055}" type="presOf" srcId="{C4065F11-F865-4046-B99B-FF6402CBF42D}" destId="{25D5ADA0-3135-4657-90B9-AFE9D764D2D8}" srcOrd="1" destOrd="0" presId="urn:microsoft.com/office/officeart/2005/8/layout/vProcess5"/>
    <dgm:cxn modelId="{6F2B52A3-4980-45CC-A67A-60454E64B989}" type="presOf" srcId="{114D1196-52B0-4590-86DF-D58C721732C2}" destId="{0512C1CF-F49D-4B9B-9F86-721F0E909ECB}" srcOrd="1" destOrd="0" presId="urn:microsoft.com/office/officeart/2005/8/layout/vProcess5"/>
    <dgm:cxn modelId="{D1E22FA5-0C6E-491F-8D47-DA0FF13E9365}" type="presOf" srcId="{114D1196-52B0-4590-86DF-D58C721732C2}" destId="{0033686A-1FA7-4EC0-B1C2-EE615C174B81}" srcOrd="0" destOrd="0" presId="urn:microsoft.com/office/officeart/2005/8/layout/vProcess5"/>
    <dgm:cxn modelId="{D88AD1B7-DB5D-47A1-9880-EE7A2DE551A3}" srcId="{7D8977A3-7785-4DDD-BD1E-ED572C311944}" destId="{2FF5C33F-0D37-48D1-8E46-2F6AB792317D}" srcOrd="2" destOrd="0" parTransId="{C4C11F54-3449-47C4-A046-B0B60C975B97}" sibTransId="{3525928F-0EA5-40A1-AE6E-98FD30C2847F}"/>
    <dgm:cxn modelId="{A10919B8-D0B3-4036-8DF6-C5EDA580F009}" type="presOf" srcId="{2FF5C33F-0D37-48D1-8E46-2F6AB792317D}" destId="{A6F3C10A-D0CD-4B8A-8E0C-C116F501BF72}" srcOrd="0" destOrd="0" presId="urn:microsoft.com/office/officeart/2005/8/layout/vProcess5"/>
    <dgm:cxn modelId="{8DBD27B9-CDBB-4379-9DFF-B5971C5FE162}" type="presOf" srcId="{7D8977A3-7785-4DDD-BD1E-ED572C311944}" destId="{B0F0F376-86DE-47AE-BC01-9F3B4BBADCA7}" srcOrd="0" destOrd="0" presId="urn:microsoft.com/office/officeart/2005/8/layout/vProcess5"/>
    <dgm:cxn modelId="{B3BDC8D2-8905-486D-B5B5-707506DD8262}" type="presOf" srcId="{E95DBD55-64C5-4054-9FBD-ECF38A57B88E}" destId="{A89425CE-4B8D-4274-B535-F11745907056}" srcOrd="0" destOrd="0" presId="urn:microsoft.com/office/officeart/2005/8/layout/vProcess5"/>
    <dgm:cxn modelId="{D0ABABD6-1C05-47F8-AE81-25BABC958340}" type="presOf" srcId="{2EFC09A9-EC97-439D-BB9C-A61D08166098}" destId="{0F2BBAE2-3D98-4AAB-ACE8-C5A8C31395CE}" srcOrd="1" destOrd="0" presId="urn:microsoft.com/office/officeart/2005/8/layout/vProcess5"/>
    <dgm:cxn modelId="{06CC9A9F-CE4D-42CD-A257-556E0422E004}" type="presParOf" srcId="{B0F0F376-86DE-47AE-BC01-9F3B4BBADCA7}" destId="{57379565-E39F-495C-8E41-3AB7342E7549}" srcOrd="0" destOrd="0" presId="urn:microsoft.com/office/officeart/2005/8/layout/vProcess5"/>
    <dgm:cxn modelId="{16B674F6-2303-442A-AC0B-6DEFEFC2F6BE}" type="presParOf" srcId="{B0F0F376-86DE-47AE-BC01-9F3B4BBADCA7}" destId="{0033686A-1FA7-4EC0-B1C2-EE615C174B81}" srcOrd="1" destOrd="0" presId="urn:microsoft.com/office/officeart/2005/8/layout/vProcess5"/>
    <dgm:cxn modelId="{F3C71765-B70A-423A-A616-2BF0A39BC2B7}" type="presParOf" srcId="{B0F0F376-86DE-47AE-BC01-9F3B4BBADCA7}" destId="{FAC228BF-BAC9-4130-ABE3-91A24F877D94}" srcOrd="2" destOrd="0" presId="urn:microsoft.com/office/officeart/2005/8/layout/vProcess5"/>
    <dgm:cxn modelId="{6DD1D456-6636-4208-A924-00B0484CA2A6}" type="presParOf" srcId="{B0F0F376-86DE-47AE-BC01-9F3B4BBADCA7}" destId="{A6F3C10A-D0CD-4B8A-8E0C-C116F501BF72}" srcOrd="3" destOrd="0" presId="urn:microsoft.com/office/officeart/2005/8/layout/vProcess5"/>
    <dgm:cxn modelId="{2518B780-7816-4877-9D71-0C86CF16775C}" type="presParOf" srcId="{B0F0F376-86DE-47AE-BC01-9F3B4BBADCA7}" destId="{C615C9C3-C03E-4714-99CB-EAA496D8C763}" srcOrd="4" destOrd="0" presId="urn:microsoft.com/office/officeart/2005/8/layout/vProcess5"/>
    <dgm:cxn modelId="{81430973-EA5B-4598-885E-DF82E30695CB}" type="presParOf" srcId="{B0F0F376-86DE-47AE-BC01-9F3B4BBADCA7}" destId="{A89425CE-4B8D-4274-B535-F11745907056}" srcOrd="5" destOrd="0" presId="urn:microsoft.com/office/officeart/2005/8/layout/vProcess5"/>
    <dgm:cxn modelId="{1044C5E0-B842-4A2C-BEA8-5A0B4997EE67}" type="presParOf" srcId="{B0F0F376-86DE-47AE-BC01-9F3B4BBADCA7}" destId="{89719779-CBE2-494D-85A3-FA4C7580EE0E}" srcOrd="6" destOrd="0" presId="urn:microsoft.com/office/officeart/2005/8/layout/vProcess5"/>
    <dgm:cxn modelId="{1DDF3B68-40BA-49E1-A55D-8C5932BC7CE2}" type="presParOf" srcId="{B0F0F376-86DE-47AE-BC01-9F3B4BBADCA7}" destId="{7F881C63-6A2C-48C0-A63E-769649352711}" srcOrd="7" destOrd="0" presId="urn:microsoft.com/office/officeart/2005/8/layout/vProcess5"/>
    <dgm:cxn modelId="{2BC42C23-BA3E-4E93-8379-82CE54E87C63}" type="presParOf" srcId="{B0F0F376-86DE-47AE-BC01-9F3B4BBADCA7}" destId="{0512C1CF-F49D-4B9B-9F86-721F0E909ECB}" srcOrd="8" destOrd="0" presId="urn:microsoft.com/office/officeart/2005/8/layout/vProcess5"/>
    <dgm:cxn modelId="{7DEA2675-8609-44DE-8981-AEF7737D4EC2}" type="presParOf" srcId="{B0F0F376-86DE-47AE-BC01-9F3B4BBADCA7}" destId="{25D5ADA0-3135-4657-90B9-AFE9D764D2D8}" srcOrd="9" destOrd="0" presId="urn:microsoft.com/office/officeart/2005/8/layout/vProcess5"/>
    <dgm:cxn modelId="{21F9ED64-5392-4551-8C08-8B22DF7C82F8}" type="presParOf" srcId="{B0F0F376-86DE-47AE-BC01-9F3B4BBADCA7}" destId="{F049E83F-D0CE-40A4-ABE9-10CA930ED96C}" srcOrd="10" destOrd="0" presId="urn:microsoft.com/office/officeart/2005/8/layout/vProcess5"/>
    <dgm:cxn modelId="{B0BD3E42-F02C-49D4-8FCC-45CD6118C7EC}" type="presParOf" srcId="{B0F0F376-86DE-47AE-BC01-9F3B4BBADCA7}" destId="{0F2BBAE2-3D98-4AAB-ACE8-C5A8C31395CE}"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1E4AC0-C4BB-4F2A-A890-C055DC4CF453}" type="doc">
      <dgm:prSet loTypeId="urn:microsoft.com/office/officeart/2018/2/layout/IconVerticalSolidList" loCatId="icon" qsTypeId="urn:microsoft.com/office/officeart/2005/8/quickstyle/3d1" qsCatId="3D" csTypeId="urn:microsoft.com/office/officeart/2005/8/colors/accent1_2" csCatId="accent1" phldr="1"/>
      <dgm:spPr/>
      <dgm:t>
        <a:bodyPr/>
        <a:lstStyle/>
        <a:p>
          <a:endParaRPr lang="en-US"/>
        </a:p>
      </dgm:t>
    </dgm:pt>
    <dgm:pt modelId="{FB4C5865-F210-42AF-84DE-A39DD099D777}">
      <dgm:prSet custT="1"/>
      <dgm:spPr/>
      <dgm:t>
        <a:bodyPr/>
        <a:lstStyle/>
        <a:p>
          <a:pPr>
            <a:lnSpc>
              <a:spcPct val="100000"/>
            </a:lnSpc>
          </a:pPr>
          <a:r>
            <a:rPr lang="en-US" sz="2000" dirty="0"/>
            <a:t>To effectively manage seasonal changes across product categories, it’s important to recognize that Smartphones, Laptops, and Home Appliances are not entirely dependent on seasonal factors. </a:t>
          </a:r>
        </a:p>
      </dgm:t>
    </dgm:pt>
    <dgm:pt modelId="{A9605343-75AC-4A15-AD51-22BAD8810A64}" type="parTrans" cxnId="{81129A2E-81D4-405F-AFAE-0B1EC1DB856D}">
      <dgm:prSet/>
      <dgm:spPr/>
      <dgm:t>
        <a:bodyPr/>
        <a:lstStyle/>
        <a:p>
          <a:endParaRPr lang="en-US"/>
        </a:p>
      </dgm:t>
    </dgm:pt>
    <dgm:pt modelId="{7A246D0A-F548-4501-8338-FD38F86F5949}" type="sibTrans" cxnId="{81129A2E-81D4-405F-AFAE-0B1EC1DB856D}">
      <dgm:prSet/>
      <dgm:spPr/>
      <dgm:t>
        <a:bodyPr/>
        <a:lstStyle/>
        <a:p>
          <a:endParaRPr lang="en-US"/>
        </a:p>
      </dgm:t>
    </dgm:pt>
    <dgm:pt modelId="{6DB5A82C-D159-4C67-91ED-F9B3DED7605E}">
      <dgm:prSet custT="1"/>
      <dgm:spPr/>
      <dgm:t>
        <a:bodyPr/>
        <a:lstStyle/>
        <a:p>
          <a:pPr>
            <a:lnSpc>
              <a:spcPct val="100000"/>
            </a:lnSpc>
          </a:pPr>
          <a:r>
            <a:rPr lang="en-US" sz="2400" dirty="0"/>
            <a:t>However, sales did increase during promotional events and showed slight growth when inflation rates declined over the years.</a:t>
          </a:r>
        </a:p>
      </dgm:t>
    </dgm:pt>
    <dgm:pt modelId="{905AFACD-6004-4E20-8665-4FB7FA2F359C}" type="parTrans" cxnId="{1FFBCD7A-F24E-4F72-97FE-B4CF13E76199}">
      <dgm:prSet/>
      <dgm:spPr/>
      <dgm:t>
        <a:bodyPr/>
        <a:lstStyle/>
        <a:p>
          <a:endParaRPr lang="en-US"/>
        </a:p>
      </dgm:t>
    </dgm:pt>
    <dgm:pt modelId="{4AFB8B90-C161-4D56-B50E-D055AA900486}" type="sibTrans" cxnId="{1FFBCD7A-F24E-4F72-97FE-B4CF13E76199}">
      <dgm:prSet/>
      <dgm:spPr/>
      <dgm:t>
        <a:bodyPr/>
        <a:lstStyle/>
        <a:p>
          <a:endParaRPr lang="en-US"/>
        </a:p>
      </dgm:t>
    </dgm:pt>
    <dgm:pt modelId="{F634C03D-5F72-4F69-8D7F-139C9C6F5019}" type="pres">
      <dgm:prSet presAssocID="{C31E4AC0-C4BB-4F2A-A890-C055DC4CF453}" presName="root" presStyleCnt="0">
        <dgm:presLayoutVars>
          <dgm:dir/>
          <dgm:resizeHandles val="exact"/>
        </dgm:presLayoutVars>
      </dgm:prSet>
      <dgm:spPr/>
    </dgm:pt>
    <dgm:pt modelId="{4A13BF8A-7FDC-42B4-930B-EDCBA9C4159C}" type="pres">
      <dgm:prSet presAssocID="{FB4C5865-F210-42AF-84DE-A39DD099D777}" presName="compNode" presStyleCnt="0"/>
      <dgm:spPr/>
    </dgm:pt>
    <dgm:pt modelId="{5C40FEDB-6491-4961-BB5B-E8E31525E6B0}" type="pres">
      <dgm:prSet presAssocID="{FB4C5865-F210-42AF-84DE-A39DD099D777}" presName="bgRect" presStyleLbl="bgShp" presStyleIdx="0" presStyleCnt="2"/>
      <dgm:spPr/>
    </dgm:pt>
    <dgm:pt modelId="{580A4C2F-A820-4E47-AA8D-BA420E6C33C1}" type="pres">
      <dgm:prSet presAssocID="{FB4C5865-F210-42AF-84DE-A39DD099D77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aptop"/>
        </a:ext>
      </dgm:extLst>
    </dgm:pt>
    <dgm:pt modelId="{1997CCC0-BF26-4CCF-A94F-32B6EE576186}" type="pres">
      <dgm:prSet presAssocID="{FB4C5865-F210-42AF-84DE-A39DD099D777}" presName="spaceRect" presStyleCnt="0"/>
      <dgm:spPr/>
    </dgm:pt>
    <dgm:pt modelId="{928D67A4-B407-46A0-BEE1-E8B56F3AB950}" type="pres">
      <dgm:prSet presAssocID="{FB4C5865-F210-42AF-84DE-A39DD099D777}" presName="parTx" presStyleLbl="revTx" presStyleIdx="0" presStyleCnt="2">
        <dgm:presLayoutVars>
          <dgm:chMax val="0"/>
          <dgm:chPref val="0"/>
        </dgm:presLayoutVars>
      </dgm:prSet>
      <dgm:spPr/>
    </dgm:pt>
    <dgm:pt modelId="{63E62CBB-5F9E-4C9D-B41A-44CD7EF71733}" type="pres">
      <dgm:prSet presAssocID="{7A246D0A-F548-4501-8338-FD38F86F5949}" presName="sibTrans" presStyleCnt="0"/>
      <dgm:spPr/>
    </dgm:pt>
    <dgm:pt modelId="{2624475F-9E79-4BD4-BB81-81A303EED3AE}" type="pres">
      <dgm:prSet presAssocID="{6DB5A82C-D159-4C67-91ED-F9B3DED7605E}" presName="compNode" presStyleCnt="0"/>
      <dgm:spPr/>
    </dgm:pt>
    <dgm:pt modelId="{445DD55B-391B-46C6-8B78-CFB68D22DD22}" type="pres">
      <dgm:prSet presAssocID="{6DB5A82C-D159-4C67-91ED-F9B3DED7605E}" presName="bgRect" presStyleLbl="bgShp" presStyleIdx="1" presStyleCnt="2"/>
      <dgm:spPr/>
    </dgm:pt>
    <dgm:pt modelId="{FB42260F-8F9C-4A72-BDE3-F0BF2022A5EC}" type="pres">
      <dgm:prSet presAssocID="{6DB5A82C-D159-4C67-91ED-F9B3DED7605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Graph with Upward Trend"/>
        </a:ext>
      </dgm:extLst>
    </dgm:pt>
    <dgm:pt modelId="{AAEF8E57-72A3-42D0-8A48-D79E54261EB0}" type="pres">
      <dgm:prSet presAssocID="{6DB5A82C-D159-4C67-91ED-F9B3DED7605E}" presName="spaceRect" presStyleCnt="0"/>
      <dgm:spPr/>
    </dgm:pt>
    <dgm:pt modelId="{6269BA79-9B71-40D2-BE75-F42B5D0D3A4B}" type="pres">
      <dgm:prSet presAssocID="{6DB5A82C-D159-4C67-91ED-F9B3DED7605E}" presName="parTx" presStyleLbl="revTx" presStyleIdx="1" presStyleCnt="2">
        <dgm:presLayoutVars>
          <dgm:chMax val="0"/>
          <dgm:chPref val="0"/>
        </dgm:presLayoutVars>
      </dgm:prSet>
      <dgm:spPr/>
    </dgm:pt>
  </dgm:ptLst>
  <dgm:cxnLst>
    <dgm:cxn modelId="{81129A2E-81D4-405F-AFAE-0B1EC1DB856D}" srcId="{C31E4AC0-C4BB-4F2A-A890-C055DC4CF453}" destId="{FB4C5865-F210-42AF-84DE-A39DD099D777}" srcOrd="0" destOrd="0" parTransId="{A9605343-75AC-4A15-AD51-22BAD8810A64}" sibTransId="{7A246D0A-F548-4501-8338-FD38F86F5949}"/>
    <dgm:cxn modelId="{5473234E-67E5-4120-9FB5-E51197F6BD48}" type="presOf" srcId="{6DB5A82C-D159-4C67-91ED-F9B3DED7605E}" destId="{6269BA79-9B71-40D2-BE75-F42B5D0D3A4B}" srcOrd="0" destOrd="0" presId="urn:microsoft.com/office/officeart/2018/2/layout/IconVerticalSolidList"/>
    <dgm:cxn modelId="{7ED05A4F-55B9-4222-991B-7033BC1EDC27}" type="presOf" srcId="{C31E4AC0-C4BB-4F2A-A890-C055DC4CF453}" destId="{F634C03D-5F72-4F69-8D7F-139C9C6F5019}" srcOrd="0" destOrd="0" presId="urn:microsoft.com/office/officeart/2018/2/layout/IconVerticalSolidList"/>
    <dgm:cxn modelId="{1FFBCD7A-F24E-4F72-97FE-B4CF13E76199}" srcId="{C31E4AC0-C4BB-4F2A-A890-C055DC4CF453}" destId="{6DB5A82C-D159-4C67-91ED-F9B3DED7605E}" srcOrd="1" destOrd="0" parTransId="{905AFACD-6004-4E20-8665-4FB7FA2F359C}" sibTransId="{4AFB8B90-C161-4D56-B50E-D055AA900486}"/>
    <dgm:cxn modelId="{C6DB8580-8F9F-4CE7-9E87-52C10D48984F}" type="presOf" srcId="{FB4C5865-F210-42AF-84DE-A39DD099D777}" destId="{928D67A4-B407-46A0-BEE1-E8B56F3AB950}" srcOrd="0" destOrd="0" presId="urn:microsoft.com/office/officeart/2018/2/layout/IconVerticalSolidList"/>
    <dgm:cxn modelId="{6701A84A-22A7-4DEF-AFF5-4C9F0C657F69}" type="presParOf" srcId="{F634C03D-5F72-4F69-8D7F-139C9C6F5019}" destId="{4A13BF8A-7FDC-42B4-930B-EDCBA9C4159C}" srcOrd="0" destOrd="0" presId="urn:microsoft.com/office/officeart/2018/2/layout/IconVerticalSolidList"/>
    <dgm:cxn modelId="{ECCF1804-7490-4884-A6F9-D1DC3E395772}" type="presParOf" srcId="{4A13BF8A-7FDC-42B4-930B-EDCBA9C4159C}" destId="{5C40FEDB-6491-4961-BB5B-E8E31525E6B0}" srcOrd="0" destOrd="0" presId="urn:microsoft.com/office/officeart/2018/2/layout/IconVerticalSolidList"/>
    <dgm:cxn modelId="{CBB710E2-417C-4945-8EB2-3C36E52B5255}" type="presParOf" srcId="{4A13BF8A-7FDC-42B4-930B-EDCBA9C4159C}" destId="{580A4C2F-A820-4E47-AA8D-BA420E6C33C1}" srcOrd="1" destOrd="0" presId="urn:microsoft.com/office/officeart/2018/2/layout/IconVerticalSolidList"/>
    <dgm:cxn modelId="{805D5D23-85A2-4FBC-920B-8D11578A8FF1}" type="presParOf" srcId="{4A13BF8A-7FDC-42B4-930B-EDCBA9C4159C}" destId="{1997CCC0-BF26-4CCF-A94F-32B6EE576186}" srcOrd="2" destOrd="0" presId="urn:microsoft.com/office/officeart/2018/2/layout/IconVerticalSolidList"/>
    <dgm:cxn modelId="{534419D2-22DE-49C5-BF28-82178A55D352}" type="presParOf" srcId="{4A13BF8A-7FDC-42B4-930B-EDCBA9C4159C}" destId="{928D67A4-B407-46A0-BEE1-E8B56F3AB950}" srcOrd="3" destOrd="0" presId="urn:microsoft.com/office/officeart/2018/2/layout/IconVerticalSolidList"/>
    <dgm:cxn modelId="{9E3C4080-59D7-4A82-86D9-EB3BF9CC4C0A}" type="presParOf" srcId="{F634C03D-5F72-4F69-8D7F-139C9C6F5019}" destId="{63E62CBB-5F9E-4C9D-B41A-44CD7EF71733}" srcOrd="1" destOrd="0" presId="urn:microsoft.com/office/officeart/2018/2/layout/IconVerticalSolidList"/>
    <dgm:cxn modelId="{FEDEE8FB-5B7D-4BF8-8403-357648998FF3}" type="presParOf" srcId="{F634C03D-5F72-4F69-8D7F-139C9C6F5019}" destId="{2624475F-9E79-4BD4-BB81-81A303EED3AE}" srcOrd="2" destOrd="0" presId="urn:microsoft.com/office/officeart/2018/2/layout/IconVerticalSolidList"/>
    <dgm:cxn modelId="{96DE737C-7E6E-42B7-81A0-0AEB9564051E}" type="presParOf" srcId="{2624475F-9E79-4BD4-BB81-81A303EED3AE}" destId="{445DD55B-391B-46C6-8B78-CFB68D22DD22}" srcOrd="0" destOrd="0" presId="urn:microsoft.com/office/officeart/2018/2/layout/IconVerticalSolidList"/>
    <dgm:cxn modelId="{70330763-44B5-4BF1-93F4-B7AAF149F723}" type="presParOf" srcId="{2624475F-9E79-4BD4-BB81-81A303EED3AE}" destId="{FB42260F-8F9C-4A72-BDE3-F0BF2022A5EC}" srcOrd="1" destOrd="0" presId="urn:microsoft.com/office/officeart/2018/2/layout/IconVerticalSolidList"/>
    <dgm:cxn modelId="{66A2038E-860E-4235-B86E-D5AB28494604}" type="presParOf" srcId="{2624475F-9E79-4BD4-BB81-81A303EED3AE}" destId="{AAEF8E57-72A3-42D0-8A48-D79E54261EB0}" srcOrd="2" destOrd="0" presId="urn:microsoft.com/office/officeart/2018/2/layout/IconVerticalSolidList"/>
    <dgm:cxn modelId="{2D390BC3-0E34-4237-BCBC-8D5771F48C22}" type="presParOf" srcId="{2624475F-9E79-4BD4-BB81-81A303EED3AE}" destId="{6269BA79-9B71-40D2-BE75-F42B5D0D3A4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4CF8F86-B8C0-4456-8C42-C694DF16F83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9FF9819-1E17-4D08-B45D-7FBEAAFE103E}">
      <dgm:prSet/>
      <dgm:spPr/>
      <dgm:t>
        <a:bodyPr/>
        <a:lstStyle/>
        <a:p>
          <a:r>
            <a:rPr lang="en-US" b="1"/>
            <a:t>Key Recommendations:</a:t>
          </a:r>
          <a:endParaRPr lang="en-US"/>
        </a:p>
      </dgm:t>
    </dgm:pt>
    <dgm:pt modelId="{E5242119-21DC-4EF6-BF6D-F11FCF52374E}" type="parTrans" cxnId="{6109F929-41EC-4D97-A393-B2653429B44C}">
      <dgm:prSet/>
      <dgm:spPr/>
      <dgm:t>
        <a:bodyPr/>
        <a:lstStyle/>
        <a:p>
          <a:endParaRPr lang="en-US"/>
        </a:p>
      </dgm:t>
    </dgm:pt>
    <dgm:pt modelId="{8B62FE14-34DE-4FE3-B13E-FA23A273BCC5}" type="sibTrans" cxnId="{6109F929-41EC-4D97-A393-B2653429B44C}">
      <dgm:prSet/>
      <dgm:spPr/>
      <dgm:t>
        <a:bodyPr/>
        <a:lstStyle/>
        <a:p>
          <a:endParaRPr lang="en-US"/>
        </a:p>
      </dgm:t>
    </dgm:pt>
    <dgm:pt modelId="{7157459B-B586-491F-930F-8436D476DE72}">
      <dgm:prSet custT="1"/>
      <dgm:spPr/>
      <dgm:t>
        <a:bodyPr/>
        <a:lstStyle/>
        <a:p>
          <a:r>
            <a:rPr lang="en-US" sz="1600" b="1" dirty="0"/>
            <a:t>Smartphones, Laptops, and Home Appliances</a:t>
          </a:r>
          <a:r>
            <a:rPr lang="en-US" sz="1600" dirty="0"/>
            <a:t> should be maintained at </a:t>
          </a:r>
          <a:r>
            <a:rPr lang="en-US" sz="1600" b="1" dirty="0"/>
            <a:t>optimal inventory levels</a:t>
          </a:r>
          <a:r>
            <a:rPr lang="en-US" sz="1600" dirty="0"/>
            <a:t> to meet demand without overstocking. While their sales fluctuate slightly, they remain relatively stable overall.</a:t>
          </a:r>
        </a:p>
      </dgm:t>
    </dgm:pt>
    <dgm:pt modelId="{89006D10-4108-4B5E-A4C1-DB1862C57FEA}" type="parTrans" cxnId="{3010B384-57E8-4ADB-906E-4E3E4BBEA134}">
      <dgm:prSet/>
      <dgm:spPr/>
      <dgm:t>
        <a:bodyPr/>
        <a:lstStyle/>
        <a:p>
          <a:endParaRPr lang="en-US"/>
        </a:p>
      </dgm:t>
    </dgm:pt>
    <dgm:pt modelId="{6A89F9FD-05D6-404A-A4A2-0FBA3F206982}" type="sibTrans" cxnId="{3010B384-57E8-4ADB-906E-4E3E4BBEA134}">
      <dgm:prSet/>
      <dgm:spPr/>
      <dgm:t>
        <a:bodyPr/>
        <a:lstStyle/>
        <a:p>
          <a:endParaRPr lang="en-US"/>
        </a:p>
      </dgm:t>
    </dgm:pt>
    <dgm:pt modelId="{FBAD283A-DE18-471A-9304-B43C4154533D}">
      <dgm:prSet custT="1"/>
      <dgm:spPr/>
      <dgm:t>
        <a:bodyPr/>
        <a:lstStyle/>
        <a:p>
          <a:r>
            <a:rPr lang="en-US" sz="1600" b="1" dirty="0"/>
            <a:t>Electronics</a:t>
          </a:r>
          <a:r>
            <a:rPr lang="en-US" sz="1600" dirty="0"/>
            <a:t> should receive </a:t>
          </a:r>
          <a:r>
            <a:rPr lang="en-US" sz="1600" b="1" dirty="0"/>
            <a:t>higher priority in inventory planning</a:t>
          </a:r>
          <a:r>
            <a:rPr lang="en-US" sz="1600" dirty="0"/>
            <a:t>, as they consistently recorded the highest sales volumes, regardless of seasonal changes or promotional efforts. Ensuring </a:t>
          </a:r>
          <a:r>
            <a:rPr lang="en-US" sz="1600" b="1" dirty="0"/>
            <a:t>sufficient stock availability</a:t>
          </a:r>
          <a:r>
            <a:rPr lang="en-US" sz="1600" dirty="0"/>
            <a:t> will help prevent shortages and maximize revenue opportunities</a:t>
          </a:r>
          <a:r>
            <a:rPr lang="en-US" sz="1300" dirty="0"/>
            <a:t>.</a:t>
          </a:r>
        </a:p>
      </dgm:t>
    </dgm:pt>
    <dgm:pt modelId="{FAD11051-D55A-49FB-AA71-14486C284F22}" type="parTrans" cxnId="{7FCE2AE0-E21E-44B7-A61A-4206A13EDA85}">
      <dgm:prSet/>
      <dgm:spPr/>
      <dgm:t>
        <a:bodyPr/>
        <a:lstStyle/>
        <a:p>
          <a:endParaRPr lang="en-US"/>
        </a:p>
      </dgm:t>
    </dgm:pt>
    <dgm:pt modelId="{6937E3EF-7BE0-4E9B-A73C-46AAE1E1F517}" type="sibTrans" cxnId="{7FCE2AE0-E21E-44B7-A61A-4206A13EDA85}">
      <dgm:prSet/>
      <dgm:spPr/>
      <dgm:t>
        <a:bodyPr/>
        <a:lstStyle/>
        <a:p>
          <a:endParaRPr lang="en-US"/>
        </a:p>
      </dgm:t>
    </dgm:pt>
    <dgm:pt modelId="{76ACBA9E-EE96-4C9E-9988-0A6718A23E03}" type="pres">
      <dgm:prSet presAssocID="{44CF8F86-B8C0-4456-8C42-C694DF16F835}" presName="hierChild1" presStyleCnt="0">
        <dgm:presLayoutVars>
          <dgm:chPref val="1"/>
          <dgm:dir/>
          <dgm:animOne val="branch"/>
          <dgm:animLvl val="lvl"/>
          <dgm:resizeHandles/>
        </dgm:presLayoutVars>
      </dgm:prSet>
      <dgm:spPr/>
    </dgm:pt>
    <dgm:pt modelId="{750A5314-0072-47F1-8153-6FD930039488}" type="pres">
      <dgm:prSet presAssocID="{C9FF9819-1E17-4D08-B45D-7FBEAAFE103E}" presName="hierRoot1" presStyleCnt="0"/>
      <dgm:spPr/>
    </dgm:pt>
    <dgm:pt modelId="{43A2CDE0-01BB-41D5-BBB1-05E2C4B2378C}" type="pres">
      <dgm:prSet presAssocID="{C9FF9819-1E17-4D08-B45D-7FBEAAFE103E}" presName="composite" presStyleCnt="0"/>
      <dgm:spPr/>
    </dgm:pt>
    <dgm:pt modelId="{92868663-A4B8-4A74-A470-E8FA1C66CACE}" type="pres">
      <dgm:prSet presAssocID="{C9FF9819-1E17-4D08-B45D-7FBEAAFE103E}" presName="background" presStyleLbl="node0" presStyleIdx="0" presStyleCnt="3"/>
      <dgm:spPr/>
    </dgm:pt>
    <dgm:pt modelId="{C3B45A44-B060-473B-9F3A-34113981D41F}" type="pres">
      <dgm:prSet presAssocID="{C9FF9819-1E17-4D08-B45D-7FBEAAFE103E}" presName="text" presStyleLbl="fgAcc0" presStyleIdx="0" presStyleCnt="3">
        <dgm:presLayoutVars>
          <dgm:chPref val="3"/>
        </dgm:presLayoutVars>
      </dgm:prSet>
      <dgm:spPr/>
    </dgm:pt>
    <dgm:pt modelId="{10227E40-179B-48F9-BF35-F0858780608D}" type="pres">
      <dgm:prSet presAssocID="{C9FF9819-1E17-4D08-B45D-7FBEAAFE103E}" presName="hierChild2" presStyleCnt="0"/>
      <dgm:spPr/>
    </dgm:pt>
    <dgm:pt modelId="{E93774FD-9385-4C78-845A-23978BCBFDC9}" type="pres">
      <dgm:prSet presAssocID="{7157459B-B586-491F-930F-8436D476DE72}" presName="hierRoot1" presStyleCnt="0"/>
      <dgm:spPr/>
    </dgm:pt>
    <dgm:pt modelId="{0CAA17C7-2534-4F51-A9CF-9C1545C27DED}" type="pres">
      <dgm:prSet presAssocID="{7157459B-B586-491F-930F-8436D476DE72}" presName="composite" presStyleCnt="0"/>
      <dgm:spPr/>
    </dgm:pt>
    <dgm:pt modelId="{A466513D-A1EF-4019-BECA-D1A9E175255B}" type="pres">
      <dgm:prSet presAssocID="{7157459B-B586-491F-930F-8436D476DE72}" presName="background" presStyleLbl="node0" presStyleIdx="1" presStyleCnt="3"/>
      <dgm:spPr/>
    </dgm:pt>
    <dgm:pt modelId="{7AAA361F-7F80-4F6A-AC51-5B0340D26CDA}" type="pres">
      <dgm:prSet presAssocID="{7157459B-B586-491F-930F-8436D476DE72}" presName="text" presStyleLbl="fgAcc0" presStyleIdx="1" presStyleCnt="3">
        <dgm:presLayoutVars>
          <dgm:chPref val="3"/>
        </dgm:presLayoutVars>
      </dgm:prSet>
      <dgm:spPr/>
    </dgm:pt>
    <dgm:pt modelId="{6253F467-7D7E-48EC-A862-4D3B12DD3007}" type="pres">
      <dgm:prSet presAssocID="{7157459B-B586-491F-930F-8436D476DE72}" presName="hierChild2" presStyleCnt="0"/>
      <dgm:spPr/>
    </dgm:pt>
    <dgm:pt modelId="{454F4497-709F-45FC-A5F5-3447015ACCAB}" type="pres">
      <dgm:prSet presAssocID="{FBAD283A-DE18-471A-9304-B43C4154533D}" presName="hierRoot1" presStyleCnt="0"/>
      <dgm:spPr/>
    </dgm:pt>
    <dgm:pt modelId="{709532B2-1CBC-4668-A40F-BD5DE7DAF894}" type="pres">
      <dgm:prSet presAssocID="{FBAD283A-DE18-471A-9304-B43C4154533D}" presName="composite" presStyleCnt="0"/>
      <dgm:spPr/>
    </dgm:pt>
    <dgm:pt modelId="{0F9637F6-4988-47D3-B9AC-7311E25B5B50}" type="pres">
      <dgm:prSet presAssocID="{FBAD283A-DE18-471A-9304-B43C4154533D}" presName="background" presStyleLbl="node0" presStyleIdx="2" presStyleCnt="3"/>
      <dgm:spPr/>
    </dgm:pt>
    <dgm:pt modelId="{A61A84A2-0904-4841-A12B-3CD05024DE43}" type="pres">
      <dgm:prSet presAssocID="{FBAD283A-DE18-471A-9304-B43C4154533D}" presName="text" presStyleLbl="fgAcc0" presStyleIdx="2" presStyleCnt="3" custScaleX="111809" custScaleY="112358">
        <dgm:presLayoutVars>
          <dgm:chPref val="3"/>
        </dgm:presLayoutVars>
      </dgm:prSet>
      <dgm:spPr/>
    </dgm:pt>
    <dgm:pt modelId="{5295C0CE-AAA1-42CE-884F-A36303FBA091}" type="pres">
      <dgm:prSet presAssocID="{FBAD283A-DE18-471A-9304-B43C4154533D}" presName="hierChild2" presStyleCnt="0"/>
      <dgm:spPr/>
    </dgm:pt>
  </dgm:ptLst>
  <dgm:cxnLst>
    <dgm:cxn modelId="{6109F929-41EC-4D97-A393-B2653429B44C}" srcId="{44CF8F86-B8C0-4456-8C42-C694DF16F835}" destId="{C9FF9819-1E17-4D08-B45D-7FBEAAFE103E}" srcOrd="0" destOrd="0" parTransId="{E5242119-21DC-4EF6-BF6D-F11FCF52374E}" sibTransId="{8B62FE14-34DE-4FE3-B13E-FA23A273BCC5}"/>
    <dgm:cxn modelId="{56661F5A-642B-4FE6-AE7E-CD8489EDDB86}" type="presOf" srcId="{FBAD283A-DE18-471A-9304-B43C4154533D}" destId="{A61A84A2-0904-4841-A12B-3CD05024DE43}" srcOrd="0" destOrd="0" presId="urn:microsoft.com/office/officeart/2005/8/layout/hierarchy1"/>
    <dgm:cxn modelId="{3010B384-57E8-4ADB-906E-4E3E4BBEA134}" srcId="{44CF8F86-B8C0-4456-8C42-C694DF16F835}" destId="{7157459B-B586-491F-930F-8436D476DE72}" srcOrd="1" destOrd="0" parTransId="{89006D10-4108-4B5E-A4C1-DB1862C57FEA}" sibTransId="{6A89F9FD-05D6-404A-A4A2-0FBA3F206982}"/>
    <dgm:cxn modelId="{DF32E6A5-76BD-4856-9BE0-9DBE310D8365}" type="presOf" srcId="{C9FF9819-1E17-4D08-B45D-7FBEAAFE103E}" destId="{C3B45A44-B060-473B-9F3A-34113981D41F}" srcOrd="0" destOrd="0" presId="urn:microsoft.com/office/officeart/2005/8/layout/hierarchy1"/>
    <dgm:cxn modelId="{E388AFA6-11B4-470E-811D-D48422F5263C}" type="presOf" srcId="{44CF8F86-B8C0-4456-8C42-C694DF16F835}" destId="{76ACBA9E-EE96-4C9E-9988-0A6718A23E03}" srcOrd="0" destOrd="0" presId="urn:microsoft.com/office/officeart/2005/8/layout/hierarchy1"/>
    <dgm:cxn modelId="{9D687FB4-2DBF-4972-80C9-21A261BD788E}" type="presOf" srcId="{7157459B-B586-491F-930F-8436D476DE72}" destId="{7AAA361F-7F80-4F6A-AC51-5B0340D26CDA}" srcOrd="0" destOrd="0" presId="urn:microsoft.com/office/officeart/2005/8/layout/hierarchy1"/>
    <dgm:cxn modelId="{7FCE2AE0-E21E-44B7-A61A-4206A13EDA85}" srcId="{44CF8F86-B8C0-4456-8C42-C694DF16F835}" destId="{FBAD283A-DE18-471A-9304-B43C4154533D}" srcOrd="2" destOrd="0" parTransId="{FAD11051-D55A-49FB-AA71-14486C284F22}" sibTransId="{6937E3EF-7BE0-4E9B-A73C-46AAE1E1F517}"/>
    <dgm:cxn modelId="{1F0FD2D0-C65C-4644-A934-912E1D672C79}" type="presParOf" srcId="{76ACBA9E-EE96-4C9E-9988-0A6718A23E03}" destId="{750A5314-0072-47F1-8153-6FD930039488}" srcOrd="0" destOrd="0" presId="urn:microsoft.com/office/officeart/2005/8/layout/hierarchy1"/>
    <dgm:cxn modelId="{3A2AB3DB-87EC-4E6C-B989-E696320E597C}" type="presParOf" srcId="{750A5314-0072-47F1-8153-6FD930039488}" destId="{43A2CDE0-01BB-41D5-BBB1-05E2C4B2378C}" srcOrd="0" destOrd="0" presId="urn:microsoft.com/office/officeart/2005/8/layout/hierarchy1"/>
    <dgm:cxn modelId="{5703CEA4-F9F4-479C-9F7A-8ACB4AABB53F}" type="presParOf" srcId="{43A2CDE0-01BB-41D5-BBB1-05E2C4B2378C}" destId="{92868663-A4B8-4A74-A470-E8FA1C66CACE}" srcOrd="0" destOrd="0" presId="urn:microsoft.com/office/officeart/2005/8/layout/hierarchy1"/>
    <dgm:cxn modelId="{362D2547-5411-46B8-ABFE-CF5A5EA663EE}" type="presParOf" srcId="{43A2CDE0-01BB-41D5-BBB1-05E2C4B2378C}" destId="{C3B45A44-B060-473B-9F3A-34113981D41F}" srcOrd="1" destOrd="0" presId="urn:microsoft.com/office/officeart/2005/8/layout/hierarchy1"/>
    <dgm:cxn modelId="{9EFA89A1-96B8-4E73-B690-A8EF0BDD65E7}" type="presParOf" srcId="{750A5314-0072-47F1-8153-6FD930039488}" destId="{10227E40-179B-48F9-BF35-F0858780608D}" srcOrd="1" destOrd="0" presId="urn:microsoft.com/office/officeart/2005/8/layout/hierarchy1"/>
    <dgm:cxn modelId="{AD8DA9A1-E1A1-42A6-9BFF-A9497ADA3FF3}" type="presParOf" srcId="{76ACBA9E-EE96-4C9E-9988-0A6718A23E03}" destId="{E93774FD-9385-4C78-845A-23978BCBFDC9}" srcOrd="1" destOrd="0" presId="urn:microsoft.com/office/officeart/2005/8/layout/hierarchy1"/>
    <dgm:cxn modelId="{D48999A7-40E4-4839-ABE6-E9E0962F2FF8}" type="presParOf" srcId="{E93774FD-9385-4C78-845A-23978BCBFDC9}" destId="{0CAA17C7-2534-4F51-A9CF-9C1545C27DED}" srcOrd="0" destOrd="0" presId="urn:microsoft.com/office/officeart/2005/8/layout/hierarchy1"/>
    <dgm:cxn modelId="{5B1B6448-CADA-444A-8391-BB584D0FD05B}" type="presParOf" srcId="{0CAA17C7-2534-4F51-A9CF-9C1545C27DED}" destId="{A466513D-A1EF-4019-BECA-D1A9E175255B}" srcOrd="0" destOrd="0" presId="urn:microsoft.com/office/officeart/2005/8/layout/hierarchy1"/>
    <dgm:cxn modelId="{8D94A344-A858-4DC8-994F-76FF5BA6DB23}" type="presParOf" srcId="{0CAA17C7-2534-4F51-A9CF-9C1545C27DED}" destId="{7AAA361F-7F80-4F6A-AC51-5B0340D26CDA}" srcOrd="1" destOrd="0" presId="urn:microsoft.com/office/officeart/2005/8/layout/hierarchy1"/>
    <dgm:cxn modelId="{4A113EA3-F4DB-410D-84D3-BC9019E0D391}" type="presParOf" srcId="{E93774FD-9385-4C78-845A-23978BCBFDC9}" destId="{6253F467-7D7E-48EC-A862-4D3B12DD3007}" srcOrd="1" destOrd="0" presId="urn:microsoft.com/office/officeart/2005/8/layout/hierarchy1"/>
    <dgm:cxn modelId="{E23D6EFF-63D7-4539-BDF5-6BD2C1A2ECA9}" type="presParOf" srcId="{76ACBA9E-EE96-4C9E-9988-0A6718A23E03}" destId="{454F4497-709F-45FC-A5F5-3447015ACCAB}" srcOrd="2" destOrd="0" presId="urn:microsoft.com/office/officeart/2005/8/layout/hierarchy1"/>
    <dgm:cxn modelId="{BA07BE19-9469-4984-B6CC-F2F1BD89F536}" type="presParOf" srcId="{454F4497-709F-45FC-A5F5-3447015ACCAB}" destId="{709532B2-1CBC-4668-A40F-BD5DE7DAF894}" srcOrd="0" destOrd="0" presId="urn:microsoft.com/office/officeart/2005/8/layout/hierarchy1"/>
    <dgm:cxn modelId="{3F182B8B-60C2-4E55-BFB3-1E738471B7F1}" type="presParOf" srcId="{709532B2-1CBC-4668-A40F-BD5DE7DAF894}" destId="{0F9637F6-4988-47D3-B9AC-7311E25B5B50}" srcOrd="0" destOrd="0" presId="urn:microsoft.com/office/officeart/2005/8/layout/hierarchy1"/>
    <dgm:cxn modelId="{506B2BE3-252A-44DD-81CE-1B26234A75C3}" type="presParOf" srcId="{709532B2-1CBC-4668-A40F-BD5DE7DAF894}" destId="{A61A84A2-0904-4841-A12B-3CD05024DE43}" srcOrd="1" destOrd="0" presId="urn:microsoft.com/office/officeart/2005/8/layout/hierarchy1"/>
    <dgm:cxn modelId="{EB3D97A1-A1A4-4E41-87AC-C93C0FBD9761}" type="presParOf" srcId="{454F4497-709F-45FC-A5F5-3447015ACCAB}" destId="{5295C0CE-AAA1-42CE-884F-A36303FBA09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7EAF4-A3DA-4A22-B9F8-C5F668DF0959}">
      <dsp:nvSpPr>
        <dsp:cNvPr id="0" name=""/>
        <dsp:cNvSpPr/>
      </dsp:nvSpPr>
      <dsp:spPr>
        <a:xfrm>
          <a:off x="0" y="295059"/>
          <a:ext cx="6397460" cy="2523389"/>
        </a:xfrm>
        <a:prstGeom prst="round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T.T. Inc. has consistently demonstrated an unwavering commitment to excellence, reinforcing its position as a leader in the consumer electronics sector. </a:t>
          </a:r>
        </a:p>
      </dsp:txBody>
      <dsp:txXfrm>
        <a:off x="123182" y="418241"/>
        <a:ext cx="6151096" cy="2277025"/>
      </dsp:txXfrm>
    </dsp:sp>
    <dsp:sp modelId="{8C23BCC6-7C25-4C10-A6C2-D18E05D58705}">
      <dsp:nvSpPr>
        <dsp:cNvPr id="0" name=""/>
        <dsp:cNvSpPr/>
      </dsp:nvSpPr>
      <dsp:spPr>
        <a:xfrm>
          <a:off x="0" y="3079387"/>
          <a:ext cx="6397460" cy="2523389"/>
        </a:xfrm>
        <a:prstGeom prst="roundRect">
          <a:avLst/>
        </a:prstGeom>
        <a:gradFill rotWithShape="0">
          <a:gsLst>
            <a:gs pos="0">
              <a:schemeClr val="accent2">
                <a:hueOff val="-1323373"/>
                <a:satOff val="1492"/>
                <a:lumOff val="3530"/>
                <a:alphaOff val="0"/>
                <a:tint val="94000"/>
                <a:satMod val="103000"/>
                <a:lumMod val="102000"/>
              </a:schemeClr>
            </a:gs>
            <a:gs pos="50000">
              <a:schemeClr val="accent2">
                <a:hueOff val="-1323373"/>
                <a:satOff val="1492"/>
                <a:lumOff val="3530"/>
                <a:alphaOff val="0"/>
                <a:shade val="100000"/>
                <a:satMod val="110000"/>
                <a:lumMod val="100000"/>
              </a:schemeClr>
            </a:gs>
            <a:gs pos="100000">
              <a:schemeClr val="accent2">
                <a:hueOff val="-1323373"/>
                <a:satOff val="1492"/>
                <a:lumOff val="353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However, to further strengthen its market dominance, the company recognizes the necessity of a deeper understanding of its product portfolio and the implementation of robust inventory management </a:t>
          </a:r>
          <a:r>
            <a:rPr lang="en-US" sz="2000" kern="1200" dirty="0" err="1"/>
            <a:t>practices.To</a:t>
          </a:r>
          <a:r>
            <a:rPr lang="en-US" sz="2000" kern="1200" dirty="0"/>
            <a:t> achieve this objective, a specialized team was engaged to conduct a data-driven analysis to uncover key insights and develop optimization strategies for inventory management. </a:t>
          </a:r>
        </a:p>
      </dsp:txBody>
      <dsp:txXfrm>
        <a:off x="123182" y="3202569"/>
        <a:ext cx="6151096" cy="22770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E1558-E9AD-48BA-9852-F16CFC2B923E}">
      <dsp:nvSpPr>
        <dsp:cNvPr id="0" name=""/>
        <dsp:cNvSpPr/>
      </dsp:nvSpPr>
      <dsp:spPr>
        <a:xfrm>
          <a:off x="0" y="1407"/>
          <a:ext cx="6261100" cy="2980415"/>
        </a:xfrm>
        <a:prstGeom prst="round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The goal was to enhance operational efficiency, streamline supply chain processes, and mitigate inventory-related inefficiencies </a:t>
          </a:r>
        </a:p>
      </dsp:txBody>
      <dsp:txXfrm>
        <a:off x="145492" y="146899"/>
        <a:ext cx="5970116" cy="2689431"/>
      </dsp:txXfrm>
    </dsp:sp>
    <dsp:sp modelId="{9989E162-2DC5-4690-8B92-20CB6E63027A}">
      <dsp:nvSpPr>
        <dsp:cNvPr id="0" name=""/>
        <dsp:cNvSpPr/>
      </dsp:nvSpPr>
      <dsp:spPr>
        <a:xfrm>
          <a:off x="0" y="2995716"/>
          <a:ext cx="6261100" cy="2980415"/>
        </a:xfrm>
        <a:prstGeom prst="roundRect">
          <a:avLst/>
        </a:prstGeom>
        <a:gradFill rotWithShape="0">
          <a:gsLst>
            <a:gs pos="0">
              <a:schemeClr val="accent2">
                <a:hueOff val="-1323373"/>
                <a:satOff val="1492"/>
                <a:lumOff val="3530"/>
                <a:alphaOff val="0"/>
                <a:tint val="94000"/>
                <a:satMod val="103000"/>
                <a:lumMod val="102000"/>
              </a:schemeClr>
            </a:gs>
            <a:gs pos="50000">
              <a:schemeClr val="accent2">
                <a:hueOff val="-1323373"/>
                <a:satOff val="1492"/>
                <a:lumOff val="3530"/>
                <a:alphaOff val="0"/>
                <a:shade val="100000"/>
                <a:satMod val="110000"/>
                <a:lumMod val="100000"/>
              </a:schemeClr>
            </a:gs>
            <a:gs pos="100000">
              <a:schemeClr val="accent2">
                <a:hueOff val="-1323373"/>
                <a:satOff val="1492"/>
                <a:lumOff val="353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 This report presents a comprehensive synthesis of our team’s findings, derived from in-depth data queries and analytical assessments. It systematically addresses existing challenges, identifies critical areas for improvement, and proposes evidence-based strategies to optimize inventory management and overall operational performance</a:t>
          </a:r>
        </a:p>
      </dsp:txBody>
      <dsp:txXfrm>
        <a:off x="145492" y="3141208"/>
        <a:ext cx="5970116" cy="26894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84149-BAE8-44EE-8275-ED7D090D53BD}">
      <dsp:nvSpPr>
        <dsp:cNvPr id="0" name=""/>
        <dsp:cNvSpPr/>
      </dsp:nvSpPr>
      <dsp:spPr>
        <a:xfrm>
          <a:off x="265744" y="130047"/>
          <a:ext cx="1363481" cy="136348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C66CAD3-2CFD-4A95-8C52-B0F58746F113}">
      <dsp:nvSpPr>
        <dsp:cNvPr id="0" name=""/>
        <dsp:cNvSpPr/>
      </dsp:nvSpPr>
      <dsp:spPr>
        <a:xfrm>
          <a:off x="552075" y="416378"/>
          <a:ext cx="790819" cy="7908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FC0E8E7-9E5E-41DA-92C5-325CB5015E80}">
      <dsp:nvSpPr>
        <dsp:cNvPr id="0" name=""/>
        <dsp:cNvSpPr/>
      </dsp:nvSpPr>
      <dsp:spPr>
        <a:xfrm>
          <a:off x="1921400" y="130047"/>
          <a:ext cx="3213919" cy="136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dirty="0"/>
            <a:t>Guided by these objectives</a:t>
          </a:r>
        </a:p>
      </dsp:txBody>
      <dsp:txXfrm>
        <a:off x="1921400" y="130047"/>
        <a:ext cx="3213919" cy="1363481"/>
      </dsp:txXfrm>
    </dsp:sp>
    <dsp:sp modelId="{3A5385DA-BEE6-4B03-A528-77C7F1AA0478}">
      <dsp:nvSpPr>
        <dsp:cNvPr id="0" name=""/>
        <dsp:cNvSpPr/>
      </dsp:nvSpPr>
      <dsp:spPr>
        <a:xfrm>
          <a:off x="5695321" y="130047"/>
          <a:ext cx="1363481" cy="136348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2C0F5FA-9EE5-41CF-8021-34E879B44DE2}">
      <dsp:nvSpPr>
        <dsp:cNvPr id="0" name=""/>
        <dsp:cNvSpPr/>
      </dsp:nvSpPr>
      <dsp:spPr>
        <a:xfrm>
          <a:off x="5981652" y="416378"/>
          <a:ext cx="790819" cy="7908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29EA87C-D108-4F29-8DE9-EE0B99F470AC}">
      <dsp:nvSpPr>
        <dsp:cNvPr id="0" name=""/>
        <dsp:cNvSpPr/>
      </dsp:nvSpPr>
      <dsp:spPr>
        <a:xfrm>
          <a:off x="7350976" y="130047"/>
          <a:ext cx="3213919" cy="136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b="0" kern="1200"/>
            <a:t>Optimizing inventory levels to minimize overstock and understock situations</a:t>
          </a:r>
          <a:r>
            <a:rPr lang="en-US" sz="2300" kern="1200"/>
            <a:t>.</a:t>
          </a:r>
        </a:p>
      </dsp:txBody>
      <dsp:txXfrm>
        <a:off x="7350976" y="130047"/>
        <a:ext cx="3213919" cy="1363481"/>
      </dsp:txXfrm>
    </dsp:sp>
    <dsp:sp modelId="{4DE10B99-55FC-4817-ABD8-4395DB010ED4}">
      <dsp:nvSpPr>
        <dsp:cNvPr id="0" name=""/>
        <dsp:cNvSpPr/>
      </dsp:nvSpPr>
      <dsp:spPr>
        <a:xfrm>
          <a:off x="265744" y="2105334"/>
          <a:ext cx="1363481" cy="136348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FA223A4-073B-4A2A-8FB5-7C063ABE94F6}">
      <dsp:nvSpPr>
        <dsp:cNvPr id="0" name=""/>
        <dsp:cNvSpPr/>
      </dsp:nvSpPr>
      <dsp:spPr>
        <a:xfrm>
          <a:off x="552075" y="2391665"/>
          <a:ext cx="790819" cy="7908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1E7F24D-E418-4949-8C94-FC35919A1CC1}">
      <dsp:nvSpPr>
        <dsp:cNvPr id="0" name=""/>
        <dsp:cNvSpPr/>
      </dsp:nvSpPr>
      <dsp:spPr>
        <a:xfrm>
          <a:off x="1921400" y="2105334"/>
          <a:ext cx="3213919" cy="136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Understanding seasonal trend of sales for different products.</a:t>
          </a:r>
        </a:p>
      </dsp:txBody>
      <dsp:txXfrm>
        <a:off x="1921400" y="2105334"/>
        <a:ext cx="3213919" cy="1363481"/>
      </dsp:txXfrm>
    </dsp:sp>
    <dsp:sp modelId="{58502E76-4ADC-4AC7-9630-4CC444FEB441}">
      <dsp:nvSpPr>
        <dsp:cNvPr id="0" name=""/>
        <dsp:cNvSpPr/>
      </dsp:nvSpPr>
      <dsp:spPr>
        <a:xfrm>
          <a:off x="5695321" y="2105334"/>
          <a:ext cx="1363481" cy="1363481"/>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40D3320-AAF6-4B0F-9931-F46A503B76D7}">
      <dsp:nvSpPr>
        <dsp:cNvPr id="0" name=""/>
        <dsp:cNvSpPr/>
      </dsp:nvSpPr>
      <dsp:spPr>
        <a:xfrm>
          <a:off x="5981652" y="2391665"/>
          <a:ext cx="790819" cy="7908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4BA7F0C-0F2D-4791-8C21-9171F76D7EF0}">
      <dsp:nvSpPr>
        <dsp:cNvPr id="0" name=""/>
        <dsp:cNvSpPr/>
      </dsp:nvSpPr>
      <dsp:spPr>
        <a:xfrm>
          <a:off x="7350976" y="2105334"/>
          <a:ext cx="3213919" cy="136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t>Improving customer satisfaction by ensuring product availability</a:t>
          </a:r>
        </a:p>
      </dsp:txBody>
      <dsp:txXfrm>
        <a:off x="7350976" y="2105334"/>
        <a:ext cx="3213919" cy="13634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33686A-1FA7-4EC0-B1C2-EE615C174B81}">
      <dsp:nvSpPr>
        <dsp:cNvPr id="0" name=""/>
        <dsp:cNvSpPr/>
      </dsp:nvSpPr>
      <dsp:spPr>
        <a:xfrm>
          <a:off x="0" y="0"/>
          <a:ext cx="8803565" cy="947330"/>
        </a:xfrm>
        <a:prstGeom prst="roundRect">
          <a:avLst>
            <a:gd name="adj" fmla="val 10000"/>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100000"/>
            </a:lnSpc>
            <a:spcBef>
              <a:spcPct val="0"/>
            </a:spcBef>
            <a:spcAft>
              <a:spcPct val="35000"/>
            </a:spcAft>
            <a:buNone/>
          </a:pPr>
          <a:r>
            <a:rPr lang="en-US" sz="3900" b="1" kern="1200"/>
            <a:t>Key Findings:</a:t>
          </a:r>
          <a:endParaRPr lang="en-US" sz="3900" kern="1200"/>
        </a:p>
      </dsp:txBody>
      <dsp:txXfrm>
        <a:off x="27746" y="27746"/>
        <a:ext cx="7701273" cy="891838"/>
      </dsp:txXfrm>
    </dsp:sp>
    <dsp:sp modelId="{FAC228BF-BAC9-4130-ABE3-91A24F877D94}">
      <dsp:nvSpPr>
        <dsp:cNvPr id="0" name=""/>
        <dsp:cNvSpPr/>
      </dsp:nvSpPr>
      <dsp:spPr>
        <a:xfrm>
          <a:off x="658902" y="1014252"/>
          <a:ext cx="8960357" cy="1157969"/>
        </a:xfrm>
        <a:prstGeom prst="roundRect">
          <a:avLst>
            <a:gd name="adj" fmla="val 10000"/>
          </a:avLst>
        </a:prstGeom>
        <a:gradFill rotWithShape="0">
          <a:gsLst>
            <a:gs pos="0">
              <a:schemeClr val="accent2">
                <a:hueOff val="-441124"/>
                <a:satOff val="497"/>
                <a:lumOff val="1177"/>
                <a:alphaOff val="0"/>
                <a:tint val="94000"/>
                <a:satMod val="103000"/>
                <a:lumMod val="102000"/>
              </a:schemeClr>
            </a:gs>
            <a:gs pos="50000">
              <a:schemeClr val="accent2">
                <a:hueOff val="-441124"/>
                <a:satOff val="497"/>
                <a:lumOff val="1177"/>
                <a:alphaOff val="0"/>
                <a:shade val="100000"/>
                <a:satMod val="110000"/>
                <a:lumMod val="100000"/>
              </a:schemeClr>
            </a:gs>
            <a:gs pos="100000">
              <a:schemeClr val="accent2">
                <a:hueOff val="-441124"/>
                <a:satOff val="497"/>
                <a:lumOff val="1177"/>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Electronics</a:t>
          </a:r>
          <a:r>
            <a:rPr lang="en-US" sz="1800" kern="1200" dirty="0"/>
            <a:t> consistently had the highest sales, regardless of seasonal changes or inflation. Since this category topped every data insight, it’s recommended to </a:t>
          </a:r>
          <a:r>
            <a:rPr lang="en-US" sz="1800" b="1" kern="1200" dirty="0"/>
            <a:t>keep inventory levels as high as possible</a:t>
          </a:r>
          <a:r>
            <a:rPr lang="en-US" sz="1800" kern="1200" dirty="0"/>
            <a:t> to avoid understocking.</a:t>
          </a:r>
        </a:p>
      </dsp:txBody>
      <dsp:txXfrm>
        <a:off x="692818" y="1048168"/>
        <a:ext cx="7515363" cy="1090137"/>
      </dsp:txXfrm>
    </dsp:sp>
    <dsp:sp modelId="{A6F3C10A-D0CD-4B8A-8E0C-C116F501BF72}">
      <dsp:nvSpPr>
        <dsp:cNvPr id="0" name=""/>
        <dsp:cNvSpPr/>
      </dsp:nvSpPr>
      <dsp:spPr>
        <a:xfrm>
          <a:off x="1463592" y="2239144"/>
          <a:ext cx="8803565" cy="947330"/>
        </a:xfrm>
        <a:prstGeom prst="roundRect">
          <a:avLst>
            <a:gd name="adj" fmla="val 10000"/>
          </a:avLst>
        </a:prstGeom>
        <a:gradFill rotWithShape="0">
          <a:gsLst>
            <a:gs pos="0">
              <a:schemeClr val="accent2">
                <a:hueOff val="-882249"/>
                <a:satOff val="995"/>
                <a:lumOff val="2353"/>
                <a:alphaOff val="0"/>
                <a:tint val="94000"/>
                <a:satMod val="103000"/>
                <a:lumMod val="102000"/>
              </a:schemeClr>
            </a:gs>
            <a:gs pos="50000">
              <a:schemeClr val="accent2">
                <a:hueOff val="-882249"/>
                <a:satOff val="995"/>
                <a:lumOff val="2353"/>
                <a:alphaOff val="0"/>
                <a:shade val="100000"/>
                <a:satMod val="110000"/>
                <a:lumMod val="100000"/>
              </a:schemeClr>
            </a:gs>
            <a:gs pos="100000">
              <a:schemeClr val="accent2">
                <a:hueOff val="-882249"/>
                <a:satOff val="995"/>
                <a:lumOff val="2353"/>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Home Appliances</a:t>
          </a:r>
          <a:r>
            <a:rPr lang="en-US" sz="1800" kern="1200"/>
            <a:t> ranked second in sales, but primarily </a:t>
          </a:r>
          <a:r>
            <a:rPr lang="en-US" sz="1800" b="1" kern="1200"/>
            <a:t>during promotional periods</a:t>
          </a:r>
          <a:r>
            <a:rPr lang="en-US" sz="1800" kern="1200"/>
            <a:t>. Outside of promotions, sales were lower, so inventory should be maintained at an </a:t>
          </a:r>
          <a:r>
            <a:rPr lang="en-US" sz="1800" b="1" kern="1200"/>
            <a:t>optimal level</a:t>
          </a:r>
          <a:r>
            <a:rPr lang="en-US" sz="1800" kern="1200"/>
            <a:t> to prevent overstocking</a:t>
          </a:r>
          <a:r>
            <a:rPr lang="en-US" sz="1400" kern="1200"/>
            <a:t>.</a:t>
          </a:r>
          <a:endParaRPr lang="en-US" sz="1400" kern="1200" dirty="0"/>
        </a:p>
      </dsp:txBody>
      <dsp:txXfrm>
        <a:off x="1491338" y="2266890"/>
        <a:ext cx="7406014" cy="891838"/>
      </dsp:txXfrm>
    </dsp:sp>
    <dsp:sp modelId="{C615C9C3-C03E-4714-99CB-EAA496D8C763}">
      <dsp:nvSpPr>
        <dsp:cNvPr id="0" name=""/>
        <dsp:cNvSpPr/>
      </dsp:nvSpPr>
      <dsp:spPr>
        <a:xfrm>
          <a:off x="2200891" y="3358716"/>
          <a:ext cx="8803565" cy="947330"/>
        </a:xfrm>
        <a:prstGeom prst="roundRect">
          <a:avLst>
            <a:gd name="adj" fmla="val 10000"/>
          </a:avLst>
        </a:prstGeom>
        <a:gradFill rotWithShape="0">
          <a:gsLst>
            <a:gs pos="0">
              <a:schemeClr val="accent2">
                <a:hueOff val="-1323373"/>
                <a:satOff val="1492"/>
                <a:lumOff val="3530"/>
                <a:alphaOff val="0"/>
                <a:tint val="94000"/>
                <a:satMod val="103000"/>
                <a:lumMod val="102000"/>
              </a:schemeClr>
            </a:gs>
            <a:gs pos="50000">
              <a:schemeClr val="accent2">
                <a:hueOff val="-1323373"/>
                <a:satOff val="1492"/>
                <a:lumOff val="3530"/>
                <a:alphaOff val="0"/>
                <a:shade val="100000"/>
                <a:satMod val="110000"/>
                <a:lumMod val="100000"/>
              </a:schemeClr>
            </a:gs>
            <a:gs pos="100000">
              <a:schemeClr val="accent2">
                <a:hueOff val="-1323373"/>
                <a:satOff val="1492"/>
                <a:lumOff val="353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Smartphones and Laptops</a:t>
          </a:r>
          <a:r>
            <a:rPr lang="en-US" sz="1600" kern="1200"/>
            <a:t> showed steady sales throughout the year, whether there were promotions or not. While they didn’t experience massive spikes, they remained consistently in demand. The best approach here is to </a:t>
          </a:r>
          <a:r>
            <a:rPr lang="en-US" sz="1600" b="1" kern="1200"/>
            <a:t>keep stock at a balanced level</a:t>
          </a:r>
          <a:r>
            <a:rPr lang="en-US" sz="1600" kern="1200"/>
            <a:t>, ensuring availability without overstocking</a:t>
          </a:r>
          <a:r>
            <a:rPr lang="en-US" sz="1400" kern="1200"/>
            <a:t>.</a:t>
          </a:r>
          <a:endParaRPr lang="en-US" sz="1400" kern="1200" dirty="0"/>
        </a:p>
      </dsp:txBody>
      <dsp:txXfrm>
        <a:off x="2228637" y="3386462"/>
        <a:ext cx="7395010" cy="891838"/>
      </dsp:txXfrm>
    </dsp:sp>
    <dsp:sp modelId="{A89425CE-4B8D-4274-B535-F11745907056}">
      <dsp:nvSpPr>
        <dsp:cNvPr id="0" name=""/>
        <dsp:cNvSpPr/>
      </dsp:nvSpPr>
      <dsp:spPr>
        <a:xfrm>
          <a:off x="8187800" y="725568"/>
          <a:ext cx="615764" cy="615764"/>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326347" y="725568"/>
        <a:ext cx="338670" cy="463362"/>
      </dsp:txXfrm>
    </dsp:sp>
    <dsp:sp modelId="{89719779-CBE2-494D-85A3-FA4C7580EE0E}">
      <dsp:nvSpPr>
        <dsp:cNvPr id="0" name=""/>
        <dsp:cNvSpPr/>
      </dsp:nvSpPr>
      <dsp:spPr>
        <a:xfrm>
          <a:off x="8925099" y="1845141"/>
          <a:ext cx="615764" cy="615764"/>
        </a:xfrm>
        <a:prstGeom prst="downArrow">
          <a:avLst>
            <a:gd name="adj1" fmla="val 55000"/>
            <a:gd name="adj2" fmla="val 45000"/>
          </a:avLst>
        </a:prstGeom>
        <a:solidFill>
          <a:schemeClr val="accent2">
            <a:tint val="40000"/>
            <a:alpha val="90000"/>
            <a:hueOff val="-920933"/>
            <a:satOff val="6135"/>
            <a:lumOff val="561"/>
            <a:alphaOff val="0"/>
          </a:schemeClr>
        </a:solidFill>
        <a:ln w="9525" cap="flat" cmpd="sng" algn="ctr">
          <a:solidFill>
            <a:schemeClr val="accent2">
              <a:tint val="40000"/>
              <a:alpha val="90000"/>
              <a:hueOff val="-920933"/>
              <a:satOff val="6135"/>
              <a:lumOff val="561"/>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9063646" y="1845141"/>
        <a:ext cx="338670" cy="463362"/>
      </dsp:txXfrm>
    </dsp:sp>
    <dsp:sp modelId="{7F881C63-6A2C-48C0-A63E-769649352711}">
      <dsp:nvSpPr>
        <dsp:cNvPr id="0" name=""/>
        <dsp:cNvSpPr/>
      </dsp:nvSpPr>
      <dsp:spPr>
        <a:xfrm>
          <a:off x="9651393" y="2964713"/>
          <a:ext cx="615764" cy="615764"/>
        </a:xfrm>
        <a:prstGeom prst="downArrow">
          <a:avLst>
            <a:gd name="adj1" fmla="val 55000"/>
            <a:gd name="adj2" fmla="val 45000"/>
          </a:avLst>
        </a:prstGeom>
        <a:solidFill>
          <a:schemeClr val="accent2">
            <a:tint val="40000"/>
            <a:alpha val="90000"/>
            <a:hueOff val="-1841865"/>
            <a:satOff val="12270"/>
            <a:lumOff val="1122"/>
            <a:alphaOff val="0"/>
          </a:schemeClr>
        </a:solidFill>
        <a:ln w="9525" cap="flat" cmpd="sng" algn="ctr">
          <a:solidFill>
            <a:schemeClr val="accent2">
              <a:tint val="40000"/>
              <a:alpha val="90000"/>
              <a:hueOff val="-1841865"/>
              <a:satOff val="12270"/>
              <a:lumOff val="1122"/>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9789940" y="2964713"/>
        <a:ext cx="338670" cy="463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0FEDB-6491-4961-BB5B-E8E31525E6B0}">
      <dsp:nvSpPr>
        <dsp:cNvPr id="0" name=""/>
        <dsp:cNvSpPr/>
      </dsp:nvSpPr>
      <dsp:spPr>
        <a:xfrm>
          <a:off x="0" y="10825"/>
          <a:ext cx="8407107" cy="1591297"/>
        </a:xfrm>
        <a:prstGeom prst="roundRect">
          <a:avLst>
            <a:gd name="adj" fmla="val 10000"/>
          </a:avLst>
        </a:prstGeom>
        <a:gradFill rotWithShape="0">
          <a:gsLst>
            <a:gs pos="0">
              <a:schemeClr val="accent1">
                <a:tint val="40000"/>
                <a:hueOff val="0"/>
                <a:satOff val="0"/>
                <a:lumOff val="0"/>
                <a:alphaOff val="0"/>
                <a:tint val="96000"/>
                <a:lumMod val="102000"/>
              </a:schemeClr>
            </a:gs>
            <a:gs pos="100000">
              <a:schemeClr val="accent1">
                <a:tint val="40000"/>
                <a:hueOff val="0"/>
                <a:satOff val="0"/>
                <a:lumOff val="0"/>
                <a:alphaOff val="0"/>
                <a:shade val="88000"/>
                <a:lumMod val="94000"/>
              </a:schemeClr>
            </a:gs>
          </a:gsLst>
          <a:path path="circle">
            <a:fillToRect l="50000" t="100000" r="100000" b="50000"/>
          </a:path>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580A4C2F-A820-4E47-AA8D-BA420E6C33C1}">
      <dsp:nvSpPr>
        <dsp:cNvPr id="0" name=""/>
        <dsp:cNvSpPr/>
      </dsp:nvSpPr>
      <dsp:spPr>
        <a:xfrm>
          <a:off x="481367" y="368867"/>
          <a:ext cx="875213" cy="8752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28D67A4-B407-46A0-BEE1-E8B56F3AB950}">
      <dsp:nvSpPr>
        <dsp:cNvPr id="0" name=""/>
        <dsp:cNvSpPr/>
      </dsp:nvSpPr>
      <dsp:spPr>
        <a:xfrm>
          <a:off x="1837949" y="10825"/>
          <a:ext cx="6569157" cy="1591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2" tIns="168412" rIns="168412" bIns="168412" numCol="1" spcCol="1270" anchor="ctr" anchorCtr="0">
          <a:noAutofit/>
        </a:bodyPr>
        <a:lstStyle/>
        <a:p>
          <a:pPr marL="0" lvl="0" indent="0" algn="l" defTabSz="889000">
            <a:lnSpc>
              <a:spcPct val="100000"/>
            </a:lnSpc>
            <a:spcBef>
              <a:spcPct val="0"/>
            </a:spcBef>
            <a:spcAft>
              <a:spcPct val="35000"/>
            </a:spcAft>
            <a:buNone/>
          </a:pPr>
          <a:r>
            <a:rPr lang="en-US" sz="2000" kern="1200" dirty="0"/>
            <a:t>To effectively manage seasonal changes across product categories, it’s important to recognize that Smartphones, Laptops, and Home Appliances are not entirely dependent on seasonal factors. </a:t>
          </a:r>
        </a:p>
      </dsp:txBody>
      <dsp:txXfrm>
        <a:off x="1837949" y="10825"/>
        <a:ext cx="6569157" cy="1591297"/>
      </dsp:txXfrm>
    </dsp:sp>
    <dsp:sp modelId="{445DD55B-391B-46C6-8B78-CFB68D22DD22}">
      <dsp:nvSpPr>
        <dsp:cNvPr id="0" name=""/>
        <dsp:cNvSpPr/>
      </dsp:nvSpPr>
      <dsp:spPr>
        <a:xfrm>
          <a:off x="0" y="1861926"/>
          <a:ext cx="8407107" cy="1591297"/>
        </a:xfrm>
        <a:prstGeom prst="roundRect">
          <a:avLst>
            <a:gd name="adj" fmla="val 10000"/>
          </a:avLst>
        </a:prstGeom>
        <a:gradFill rotWithShape="0">
          <a:gsLst>
            <a:gs pos="0">
              <a:schemeClr val="accent1">
                <a:tint val="40000"/>
                <a:hueOff val="0"/>
                <a:satOff val="0"/>
                <a:lumOff val="0"/>
                <a:alphaOff val="0"/>
                <a:tint val="96000"/>
                <a:lumMod val="102000"/>
              </a:schemeClr>
            </a:gs>
            <a:gs pos="100000">
              <a:schemeClr val="accent1">
                <a:tint val="40000"/>
                <a:hueOff val="0"/>
                <a:satOff val="0"/>
                <a:lumOff val="0"/>
                <a:alphaOff val="0"/>
                <a:shade val="88000"/>
                <a:lumMod val="94000"/>
              </a:schemeClr>
            </a:gs>
          </a:gsLst>
          <a:path path="circle">
            <a:fillToRect l="50000" t="100000" r="100000" b="50000"/>
          </a:path>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FB42260F-8F9C-4A72-BDE3-F0BF2022A5EC}">
      <dsp:nvSpPr>
        <dsp:cNvPr id="0" name=""/>
        <dsp:cNvSpPr/>
      </dsp:nvSpPr>
      <dsp:spPr>
        <a:xfrm>
          <a:off x="481367" y="2219968"/>
          <a:ext cx="875213" cy="8752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6269BA79-9B71-40D2-BE75-F42B5D0D3A4B}">
      <dsp:nvSpPr>
        <dsp:cNvPr id="0" name=""/>
        <dsp:cNvSpPr/>
      </dsp:nvSpPr>
      <dsp:spPr>
        <a:xfrm>
          <a:off x="1837949" y="1861926"/>
          <a:ext cx="6569157" cy="1591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2" tIns="168412" rIns="168412" bIns="168412" numCol="1" spcCol="1270" anchor="ctr" anchorCtr="0">
          <a:noAutofit/>
        </a:bodyPr>
        <a:lstStyle/>
        <a:p>
          <a:pPr marL="0" lvl="0" indent="0" algn="l" defTabSz="1066800">
            <a:lnSpc>
              <a:spcPct val="100000"/>
            </a:lnSpc>
            <a:spcBef>
              <a:spcPct val="0"/>
            </a:spcBef>
            <a:spcAft>
              <a:spcPct val="35000"/>
            </a:spcAft>
            <a:buNone/>
          </a:pPr>
          <a:r>
            <a:rPr lang="en-US" sz="2400" kern="1200" dirty="0"/>
            <a:t>However, sales did increase during promotional events and showed slight growth when inflation rates declined over the years.</a:t>
          </a:r>
        </a:p>
      </dsp:txBody>
      <dsp:txXfrm>
        <a:off x="1837949" y="1861926"/>
        <a:ext cx="6569157" cy="15912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68663-A4B8-4A74-A470-E8FA1C66CACE}">
      <dsp:nvSpPr>
        <dsp:cNvPr id="0" name=""/>
        <dsp:cNvSpPr/>
      </dsp:nvSpPr>
      <dsp:spPr>
        <a:xfrm>
          <a:off x="3574" y="407212"/>
          <a:ext cx="2820139" cy="179078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B45A44-B060-473B-9F3A-34113981D41F}">
      <dsp:nvSpPr>
        <dsp:cNvPr id="0" name=""/>
        <dsp:cNvSpPr/>
      </dsp:nvSpPr>
      <dsp:spPr>
        <a:xfrm>
          <a:off x="316922" y="704894"/>
          <a:ext cx="2820139" cy="179078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Key Recommendations:</a:t>
          </a:r>
          <a:endParaRPr lang="en-US" sz="2300" kern="1200"/>
        </a:p>
      </dsp:txBody>
      <dsp:txXfrm>
        <a:off x="369372" y="757344"/>
        <a:ext cx="2715239" cy="1685888"/>
      </dsp:txXfrm>
    </dsp:sp>
    <dsp:sp modelId="{A466513D-A1EF-4019-BECA-D1A9E175255B}">
      <dsp:nvSpPr>
        <dsp:cNvPr id="0" name=""/>
        <dsp:cNvSpPr/>
      </dsp:nvSpPr>
      <dsp:spPr>
        <a:xfrm>
          <a:off x="3450411" y="407212"/>
          <a:ext cx="2820139" cy="179078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AA361F-7F80-4F6A-AC51-5B0340D26CDA}">
      <dsp:nvSpPr>
        <dsp:cNvPr id="0" name=""/>
        <dsp:cNvSpPr/>
      </dsp:nvSpPr>
      <dsp:spPr>
        <a:xfrm>
          <a:off x="3763760" y="704894"/>
          <a:ext cx="2820139" cy="179078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Smartphones, Laptops, and Home Appliances</a:t>
          </a:r>
          <a:r>
            <a:rPr lang="en-US" sz="1600" kern="1200" dirty="0"/>
            <a:t> should be maintained at </a:t>
          </a:r>
          <a:r>
            <a:rPr lang="en-US" sz="1600" b="1" kern="1200" dirty="0"/>
            <a:t>optimal inventory levels</a:t>
          </a:r>
          <a:r>
            <a:rPr lang="en-US" sz="1600" kern="1200" dirty="0"/>
            <a:t> to meet demand without overstocking. While their sales fluctuate slightly, they remain relatively stable overall.</a:t>
          </a:r>
        </a:p>
      </dsp:txBody>
      <dsp:txXfrm>
        <a:off x="3816210" y="757344"/>
        <a:ext cx="2715239" cy="1685888"/>
      </dsp:txXfrm>
    </dsp:sp>
    <dsp:sp modelId="{0F9637F6-4988-47D3-B9AC-7311E25B5B50}">
      <dsp:nvSpPr>
        <dsp:cNvPr id="0" name=""/>
        <dsp:cNvSpPr/>
      </dsp:nvSpPr>
      <dsp:spPr>
        <a:xfrm>
          <a:off x="6897248" y="407212"/>
          <a:ext cx="3153169" cy="201209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1A84A2-0904-4841-A12B-3CD05024DE43}">
      <dsp:nvSpPr>
        <dsp:cNvPr id="0" name=""/>
        <dsp:cNvSpPr/>
      </dsp:nvSpPr>
      <dsp:spPr>
        <a:xfrm>
          <a:off x="7210597" y="704894"/>
          <a:ext cx="3153169" cy="201209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Electronics</a:t>
          </a:r>
          <a:r>
            <a:rPr lang="en-US" sz="1600" kern="1200" dirty="0"/>
            <a:t> should receive </a:t>
          </a:r>
          <a:r>
            <a:rPr lang="en-US" sz="1600" b="1" kern="1200" dirty="0"/>
            <a:t>higher priority in inventory planning</a:t>
          </a:r>
          <a:r>
            <a:rPr lang="en-US" sz="1600" kern="1200" dirty="0"/>
            <a:t>, as they consistently recorded the highest sales volumes, regardless of seasonal changes or promotional efforts. Ensuring </a:t>
          </a:r>
          <a:r>
            <a:rPr lang="en-US" sz="1600" b="1" kern="1200" dirty="0"/>
            <a:t>sufficient stock availability</a:t>
          </a:r>
          <a:r>
            <a:rPr lang="en-US" sz="1600" kern="1200" dirty="0"/>
            <a:t> will help prevent shortages and maximize revenue opportunities</a:t>
          </a:r>
          <a:r>
            <a:rPr lang="en-US" sz="1300" kern="1200" dirty="0"/>
            <a:t>.</a:t>
          </a:r>
        </a:p>
      </dsp:txBody>
      <dsp:txXfrm>
        <a:off x="7269529" y="763826"/>
        <a:ext cx="3035305" cy="18942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1CC7D-8FDB-4DEF-A664-0B15DC5F1AF1}" type="datetimeFigureOut">
              <a:rPr lang="en-US" smtClean="0"/>
              <a:t>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171F3-E6FD-4971-A679-501A6479BAB1}" type="slidenum">
              <a:rPr lang="en-US" smtClean="0"/>
              <a:t>‹#›</a:t>
            </a:fld>
            <a:endParaRPr lang="en-US"/>
          </a:p>
        </p:txBody>
      </p:sp>
    </p:spTree>
    <p:extLst>
      <p:ext uri="{BB962C8B-B14F-4D97-AF65-F5344CB8AC3E}">
        <p14:creationId xmlns:p14="http://schemas.microsoft.com/office/powerpoint/2010/main" val="31257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E171F3-E6FD-4971-A679-501A6479BAB1}" type="slidenum">
              <a:rPr lang="en-US" smtClean="0"/>
              <a:t>12</a:t>
            </a:fld>
            <a:endParaRPr lang="en-US"/>
          </a:p>
        </p:txBody>
      </p:sp>
    </p:spTree>
    <p:extLst>
      <p:ext uri="{BB962C8B-B14F-4D97-AF65-F5344CB8AC3E}">
        <p14:creationId xmlns:p14="http://schemas.microsoft.com/office/powerpoint/2010/main" val="35730812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wav"/></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GB"/>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768427027"/>
      </p:ext>
    </p:extLst>
  </p:cSld>
  <p:clrMapOvr>
    <a:masterClrMapping/>
  </p:clrMapOvr>
  <p:transition spd="slow">
    <p:push dir="u"/>
    <p:sndAc>
      <p:stSnd>
        <p:snd r:embed="rId1" name="arrow.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805023458"/>
      </p:ext>
    </p:extLst>
  </p:cSld>
  <p:clrMapOvr>
    <a:masterClrMapping/>
  </p:clrMapOvr>
  <p:transition spd="slow">
    <p:push dir="u"/>
    <p:sndAc>
      <p:stSnd>
        <p:snd r:embed="rId1" name="arrow.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GB"/>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007555510"/>
      </p:ext>
    </p:extLst>
  </p:cSld>
  <p:clrMapOvr>
    <a:masterClrMapping/>
  </p:clrMapOvr>
  <p:transition spd="slow">
    <p:push dir="u"/>
    <p:sndAc>
      <p:stSnd>
        <p:snd r:embed="rId1" name="arrow.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924701964"/>
      </p:ext>
    </p:extLst>
  </p:cSld>
  <p:clrMapOvr>
    <a:masterClrMapping/>
  </p:clrMapOvr>
  <p:transition spd="slow">
    <p:push dir="u"/>
    <p:sndAc>
      <p:stSnd>
        <p:snd r:embed="rId1" name="arrow.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GB"/>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161877195"/>
      </p:ext>
    </p:extLst>
  </p:cSld>
  <p:clrMapOvr>
    <a:masterClrMapping/>
  </p:clrMapOvr>
  <p:transition spd="slow">
    <p:push dir="u"/>
    <p:sndAc>
      <p:stSnd>
        <p:snd r:embed="rId1" name="arrow.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459667741"/>
      </p:ext>
    </p:extLst>
  </p:cSld>
  <p:clrMapOvr>
    <a:masterClrMapping/>
  </p:clrMapOvr>
  <p:transition spd="slow">
    <p:push dir="u"/>
    <p:sndAc>
      <p:stSnd>
        <p:snd r:embed="rId1" name="arrow.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318C200-9066-4495-9C69-CE6309B76323}"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783493409"/>
      </p:ext>
    </p:extLst>
  </p:cSld>
  <p:clrMapOvr>
    <a:masterClrMapping/>
  </p:clrMapOvr>
  <p:transition spd="slow">
    <p:push dir="u"/>
    <p:sndAc>
      <p:stSnd>
        <p:snd r:embed="rId1" name="arrow.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272934845"/>
      </p:ext>
    </p:extLst>
  </p:cSld>
  <p:clrMapOvr>
    <a:masterClrMapping/>
  </p:clrMapOvr>
  <p:transition spd="slow">
    <p:push dir="u"/>
    <p:sndAc>
      <p:stSnd>
        <p:snd r:embed="rId1" name="arrow.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756651194"/>
      </p:ext>
    </p:extLst>
  </p:cSld>
  <p:clrMapOvr>
    <a:masterClrMapping/>
  </p:clrMapOvr>
  <p:transition spd="slow">
    <p:push dir="u"/>
    <p:sndAc>
      <p:stSnd>
        <p:snd r:embed="rId1" name="arrow.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179192237"/>
      </p:ext>
    </p:extLst>
  </p:cSld>
  <p:clrMapOvr>
    <a:masterClrMapping/>
  </p:clrMapOvr>
  <p:transition spd="slow">
    <p:push dir="u"/>
    <p:sndAc>
      <p:stSnd>
        <p:snd r:embed="rId1" name="arrow.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490966054"/>
      </p:ext>
    </p:extLst>
  </p:cSld>
  <p:clrMapOvr>
    <a:masterClrMapping/>
  </p:clrMapOvr>
  <p:transition spd="slow">
    <p:push dir="u"/>
    <p:sndAc>
      <p:stSnd>
        <p:snd r:embed="rId1" name="arrow.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309D29CA-49F3-4010-901D-A079A7461F70}"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615233044"/>
      </p:ext>
    </p:extLst>
  </p:cSld>
  <p:clrMapOvr>
    <a:masterClrMapping/>
  </p:clrMapOvr>
  <p:transition spd="slow">
    <p:push dir="u"/>
    <p:sndAc>
      <p:stSnd>
        <p:snd r:embed="rId1" name="arrow.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383375396"/>
      </p:ext>
    </p:extLst>
  </p:cSld>
  <p:clrMapOvr>
    <a:masterClrMapping/>
  </p:clrMapOvr>
  <p:transition spd="slow">
    <p:push dir="u"/>
    <p:sndAc>
      <p:stSnd>
        <p:snd r:embed="rId1" name="arrow.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GB"/>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607497650"/>
      </p:ext>
    </p:extLst>
  </p:cSld>
  <p:clrMapOvr>
    <a:masterClrMapping/>
  </p:clrMapOvr>
  <p:transition spd="slow">
    <p:push dir="u"/>
    <p:sndAc>
      <p:stSnd>
        <p:snd r:embed="rId1" name="arrow.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011897908"/>
      </p:ext>
    </p:extLst>
  </p:cSld>
  <p:clrMapOvr>
    <a:masterClrMapping/>
  </p:clrMapOvr>
  <p:transition spd="slow">
    <p:push dir="u"/>
    <p:sndAc>
      <p:stSnd>
        <p:snd r:embed="rId1" name="arrow.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115043241"/>
      </p:ext>
    </p:extLst>
  </p:cSld>
  <p:clrMapOvr>
    <a:masterClrMapping/>
  </p:clrMapOvr>
  <p:transition spd="slow">
    <p:push dir="u"/>
    <p:sndAc>
      <p:stSnd>
        <p:snd r:embed="rId1" name="arrow.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187877762"/>
      </p:ext>
    </p:extLst>
  </p:cSld>
  <p:clrMapOvr>
    <a:masterClrMapping/>
  </p:clrMapOvr>
  <p:transition spd="slow">
    <p:push dir="u"/>
    <p:sndAc>
      <p:stSnd>
        <p:snd r:embed="rId1" name="arrow.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C1E9-5620-4F8A-BBAD-4920D9431E9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B9D7680-3B80-4C7E-0D83-9FAD3A09CA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342B76-07B5-877D-FE2D-1E699D778747}"/>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9C6ADF0B-D27E-A956-D858-BAD056618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569DD6-92A7-9599-DC58-EBF44018F993}"/>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564617378"/>
      </p:ext>
    </p:extLst>
  </p:cSld>
  <p:clrMapOvr>
    <a:masterClrMapping/>
  </p:clrMapOvr>
  <p:transition spd="slow">
    <p:push dir="u"/>
    <p:sndAc>
      <p:stSnd>
        <p:snd r:embed="rId1" name="arrow.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3C98F-DC39-46C7-28E8-8F85D9DD16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F179F8-C2A3-AE88-8B8E-56C6B47E6DD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EAF1E8-5866-7EAF-8EBB-E175CC2C838B}"/>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E44F54C2-9CFE-EF3B-70D7-5600E9118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ED6D2-EA26-0904-EC1A-F17A7699E220}"/>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899613863"/>
      </p:ext>
    </p:extLst>
  </p:cSld>
  <p:clrMapOvr>
    <a:masterClrMapping/>
  </p:clrMapOvr>
  <p:transition spd="slow">
    <p:push dir="u"/>
    <p:sndAc>
      <p:stSnd>
        <p:snd r:embed="rId1" name="arrow.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32356-ED6F-DB2F-AE3E-7FA15F5CAF5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6019D5-6882-1B74-74AB-484EF5DE6F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BA0021A-D1A0-BC0A-4952-3494CEC6FEF0}"/>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A6E5DFA3-6C5B-8B64-198C-8D9A4B881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05EB6-ED90-24F4-F7EF-6386EF019033}"/>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017687761"/>
      </p:ext>
    </p:extLst>
  </p:cSld>
  <p:clrMapOvr>
    <a:masterClrMapping/>
  </p:clrMapOvr>
  <p:transition spd="slow">
    <p:push dir="u"/>
    <p:sndAc>
      <p:stSnd>
        <p:snd r:embed="rId1" name="arrow.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4E63-5067-AC25-2764-BD3D9879F1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3648E7-376B-B6BB-C159-37764F0A00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B245017-83D7-6DF6-692F-F0FB5B84EDD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0EC5887-B04C-9660-9C6F-B272898F56AF}"/>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a:extLst>
              <a:ext uri="{FF2B5EF4-FFF2-40B4-BE49-F238E27FC236}">
                <a16:creationId xmlns:a16="http://schemas.microsoft.com/office/drawing/2014/main" id="{D870B2AE-C7CE-4157-5DE8-A289840E33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D8C77-59BD-4A5A-B135-11758D44389F}"/>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444138035"/>
      </p:ext>
    </p:extLst>
  </p:cSld>
  <p:clrMapOvr>
    <a:masterClrMapping/>
  </p:clrMapOvr>
  <p:transition spd="slow">
    <p:push dir="u"/>
    <p:sndAc>
      <p:stSnd>
        <p:snd r:embed="rId1" name="arrow.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B6ED8-D05A-F868-542B-44416D245F5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D7B0A75-746B-1D41-E102-4287B20B2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5DC95AD-F1D5-B5AC-2932-3EB1C1DBDEF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6A6F8E4-8965-6E17-A285-4E9E94CBC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81105E-9086-8976-B35C-46EA9CB9910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5EC4327-5755-F935-0C73-4BAB41FF1516}"/>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a:extLst>
              <a:ext uri="{FF2B5EF4-FFF2-40B4-BE49-F238E27FC236}">
                <a16:creationId xmlns:a16="http://schemas.microsoft.com/office/drawing/2014/main" id="{12C2CEB8-087D-E58E-738D-21167788B9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C8ECB7-0045-85E7-A55A-EEE1588E46CA}"/>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68344361"/>
      </p:ext>
    </p:extLst>
  </p:cSld>
  <p:clrMapOvr>
    <a:masterClrMapping/>
  </p:clrMapOvr>
  <p:transition spd="slow">
    <p:push dir="u"/>
    <p:sndAc>
      <p:stSnd>
        <p:snd r:embed="rId1" name="arrow.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00BE-AC4B-5502-BA9B-7740ED401FE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93DF720-654C-CB36-21BB-B690D7181D46}"/>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a:extLst>
              <a:ext uri="{FF2B5EF4-FFF2-40B4-BE49-F238E27FC236}">
                <a16:creationId xmlns:a16="http://schemas.microsoft.com/office/drawing/2014/main" id="{2DB68CC7-0750-CC57-2971-284F4B77F6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A72E7E-BED7-A489-1602-A107DC84C0E8}"/>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685523977"/>
      </p:ext>
    </p:extLst>
  </p:cSld>
  <p:clrMapOvr>
    <a:masterClrMapping/>
  </p:clrMapOvr>
  <p:transition spd="slow">
    <p:push dir="u"/>
    <p:sndAc>
      <p:stSnd>
        <p:snd r:embed="rId1" name="arrow.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EC58A5-A562-84FD-E671-797434672187}"/>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3" name="Footer Placeholder 2">
            <a:extLst>
              <a:ext uri="{FF2B5EF4-FFF2-40B4-BE49-F238E27FC236}">
                <a16:creationId xmlns:a16="http://schemas.microsoft.com/office/drawing/2014/main" id="{EB1A44ED-07BC-B415-01BF-56F12E2E62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10F12-6DC6-1488-AA26-4EA6A92F2556}"/>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764669026"/>
      </p:ext>
    </p:extLst>
  </p:cSld>
  <p:clrMapOvr>
    <a:masterClrMapping/>
  </p:clrMapOvr>
  <p:transition spd="slow">
    <p:push dir="u"/>
    <p:sndAc>
      <p:stSnd>
        <p:snd r:embed="rId1" name="arrow.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D7A9-F717-8B03-12A6-33B12357FB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A35E683-F5BC-2C2B-18ED-A93AC0C68B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F71CB9F-E815-21F4-A6A4-003F8E126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349F3D-68C4-BB70-7849-E9CDAC8D5461}"/>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a:extLst>
              <a:ext uri="{FF2B5EF4-FFF2-40B4-BE49-F238E27FC236}">
                <a16:creationId xmlns:a16="http://schemas.microsoft.com/office/drawing/2014/main" id="{B19206A3-5065-1EB4-F71B-ED82270E8A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1A2E9-AFF0-753E-5343-8C9EF180D8DA}"/>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808842643"/>
      </p:ext>
    </p:extLst>
  </p:cSld>
  <p:clrMapOvr>
    <a:masterClrMapping/>
  </p:clrMapOvr>
  <p:transition spd="slow">
    <p:push dir="u"/>
    <p:sndAc>
      <p:stSnd>
        <p:snd r:embed="rId1" name="arrow.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72FE3-A2C5-1D03-05A6-9864A13FBF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0ACFEF8-7AFE-40D4-9B87-ADB01BCA6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73790B-1F85-4BC8-0739-A1DF00985F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F02865-E180-E621-BA24-617E44E678C8}"/>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a:extLst>
              <a:ext uri="{FF2B5EF4-FFF2-40B4-BE49-F238E27FC236}">
                <a16:creationId xmlns:a16="http://schemas.microsoft.com/office/drawing/2014/main" id="{10AF1601-9D86-70D3-667A-BECE047A3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D3D139-45C5-CB3D-5F76-449792146E97}"/>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179513743"/>
      </p:ext>
    </p:extLst>
  </p:cSld>
  <p:clrMapOvr>
    <a:masterClrMapping/>
  </p:clrMapOvr>
  <p:transition spd="slow">
    <p:push dir="u"/>
    <p:sndAc>
      <p:stSnd>
        <p:snd r:embed="rId1" name="arrow.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18B4-0B7B-9AF7-6460-9BB3DA3C665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8B075D5-E4D9-5AC1-3083-1AD3171EDB7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7F38A-F34E-9763-184C-D0A1F69FE994}"/>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3871B00E-D678-EB17-2A45-ECBD3277C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ACBFA-B2F3-56A5-4C20-6DBA5C68B81F}"/>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933804467"/>
      </p:ext>
    </p:extLst>
  </p:cSld>
  <p:clrMapOvr>
    <a:masterClrMapping/>
  </p:clrMapOvr>
  <p:transition spd="slow">
    <p:push dir="u"/>
    <p:sndAc>
      <p:stSnd>
        <p:snd r:embed="rId1" name="arrow.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713B19-A428-E631-E79B-62EB4E3FD4C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7C1B122-CCC3-3009-4CF9-E97F2A7C970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4F560D-2B85-3D94-D22E-C9F304FA5DA2}"/>
              </a:ext>
            </a:extLst>
          </p:cNvPr>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754D3A27-BF32-6FD8-51CA-0541C4833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5B51C-E92E-E032-E34A-D13500D1E329}"/>
              </a:ext>
            </a:extLst>
          </p:cNvPr>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362759977"/>
      </p:ext>
    </p:extLst>
  </p:cSld>
  <p:clrMapOvr>
    <a:masterClrMapping/>
  </p:clrMapOvr>
  <p:transition spd="slow">
    <p:push dir="u"/>
    <p:sndAc>
      <p:stSnd>
        <p:snd r:embed="rId1" name="arrow.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GB"/>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111664486"/>
      </p:ext>
    </p:extLst>
  </p:cSld>
  <p:clrMapOvr>
    <a:masterClrMapping/>
  </p:clrMapOvr>
  <p:transition spd="slow">
    <p:push dir="u"/>
    <p:sndAc>
      <p:stSnd>
        <p:snd r:embed="rId1" name="arrow.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73619616"/>
      </p:ext>
    </p:extLst>
  </p:cSld>
  <p:clrMapOvr>
    <a:masterClrMapping/>
  </p:clrMapOvr>
  <p:transition spd="slow">
    <p:push dir="u"/>
    <p:sndAc>
      <p:stSnd>
        <p:snd r:embed="rId1" name="arrow.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861361674"/>
      </p:ext>
    </p:extLst>
  </p:cSld>
  <p:clrMapOvr>
    <a:masterClrMapping/>
  </p:clrMapOvr>
  <p:transition spd="slow">
    <p:push dir="u"/>
    <p:sndAc>
      <p:stSnd>
        <p:snd r:embed="rId1" name="arrow.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844786971"/>
      </p:ext>
    </p:extLst>
  </p:cSld>
  <p:clrMapOvr>
    <a:masterClrMapping/>
  </p:clrMapOvr>
  <p:transition spd="slow">
    <p:push dir="u"/>
    <p:sndAc>
      <p:stSnd>
        <p:snd r:embed="rId1" name="arrow.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141933372"/>
      </p:ext>
    </p:extLst>
  </p:cSld>
  <p:clrMapOvr>
    <a:masterClrMapping/>
  </p:clrMapOvr>
  <p:transition spd="slow">
    <p:push dir="u"/>
    <p:sndAc>
      <p:stSnd>
        <p:snd r:embed="rId1" name="arrow.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224865813"/>
      </p:ext>
    </p:extLst>
  </p:cSld>
  <p:clrMapOvr>
    <a:masterClrMapping/>
  </p:clrMapOvr>
  <p:transition spd="slow">
    <p:push dir="u"/>
    <p:sndAc>
      <p:stSnd>
        <p:snd r:embed="rId1" name="arrow.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18C200-9066-4495-9C69-CE6309B76323}"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657929171"/>
      </p:ext>
    </p:extLst>
  </p:cSld>
  <p:clrMapOvr>
    <a:masterClrMapping/>
  </p:clrMapOvr>
  <p:transition spd="slow">
    <p:push dir="u"/>
    <p:sndAc>
      <p:stSnd>
        <p:snd r:embed="rId1" name="arrow.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793379637"/>
      </p:ext>
    </p:extLst>
  </p:cSld>
  <p:clrMapOvr>
    <a:masterClrMapping/>
  </p:clrMapOvr>
  <p:transition spd="slow">
    <p:push dir="u"/>
    <p:sndAc>
      <p:stSnd>
        <p:snd r:embed="rId1" name="arrow.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181772308"/>
      </p:ext>
    </p:extLst>
  </p:cSld>
  <p:clrMapOvr>
    <a:masterClrMapping/>
  </p:clrMapOvr>
  <p:transition spd="slow">
    <p:push dir="u"/>
    <p:sndAc>
      <p:stSnd>
        <p:snd r:embed="rId1" name="arrow.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00513495"/>
      </p:ext>
    </p:extLst>
  </p:cSld>
  <p:clrMapOvr>
    <a:masterClrMapping/>
  </p:clrMapOvr>
  <p:transition spd="slow">
    <p:push dir="u"/>
    <p:sndAc>
      <p:stSnd>
        <p:snd r:embed="rId1" name="arrow.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277610655"/>
      </p:ext>
    </p:extLst>
  </p:cSld>
  <p:clrMapOvr>
    <a:masterClrMapping/>
  </p:clrMapOvr>
  <p:transition spd="slow">
    <p:push dir="u"/>
    <p:sndAc>
      <p:stSnd>
        <p:snd r:embed="rId1" name="arrow.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639734774"/>
      </p:ext>
    </p:extLst>
  </p:cSld>
  <p:clrMapOvr>
    <a:masterClrMapping/>
  </p:clrMapOvr>
  <p:transition spd="slow">
    <p:push dir="u"/>
    <p:sndAc>
      <p:stSnd>
        <p:snd r:embed="rId1" name="arrow.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486223836"/>
      </p:ext>
    </p:extLst>
  </p:cSld>
  <p:clrMapOvr>
    <a:masterClrMapping/>
  </p:clrMapOvr>
  <p:transition spd="slow">
    <p:push dir="u"/>
    <p:sndAc>
      <p:stSnd>
        <p:snd r:embed="rId1" name="arrow.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202377794"/>
      </p:ext>
    </p:extLst>
  </p:cSld>
  <p:clrMapOvr>
    <a:masterClrMapping/>
  </p:clrMapOvr>
  <p:transition spd="slow">
    <p:push dir="u"/>
    <p:sndAc>
      <p:stSnd>
        <p:snd r:embed="rId1" name="arrow.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656994044"/>
      </p:ext>
    </p:extLst>
  </p:cSld>
  <p:clrMapOvr>
    <a:masterClrMapping/>
  </p:clrMapOvr>
  <p:transition spd="slow">
    <p:push dir="u"/>
    <p:sndAc>
      <p:stSnd>
        <p:snd r:embed="rId1" name="arrow.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735091903"/>
      </p:ext>
    </p:extLst>
  </p:cSld>
  <p:clrMapOvr>
    <a:masterClrMapping/>
  </p:clrMapOvr>
  <p:transition spd="slow">
    <p:push dir="u"/>
    <p:sndAc>
      <p:stSnd>
        <p:snd r:embed="rId1" name="arrow.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674992212"/>
      </p:ext>
    </p:extLst>
  </p:cSld>
  <p:clrMapOvr>
    <a:masterClrMapping/>
  </p:clrMapOvr>
  <p:transition spd="slow">
    <p:push dir="u"/>
    <p:sndAc>
      <p:stSnd>
        <p:snd r:embed="rId1" name="arrow.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3">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GB"/>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7318C200-9066-4495-9C69-CE6309B76323}" type="datetimeFigureOut">
              <a:rPr lang="en-US" smtClean="0"/>
              <a:t>2/10/2025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2633030922"/>
      </p:ext>
    </p:extLst>
  </p:cSld>
  <p:clrMapOvr>
    <a:overrideClrMapping bg1="lt1" tx1="dk1" bg2="lt2" tx2="dk2" accent1="accent1" accent2="accent2" accent3="accent3" accent4="accent4" accent5="accent5" accent6="accent6" hlink="hlink" folHlink="folHlink"/>
  </p:clrMapOvr>
  <p:transition spd="slow">
    <p:push dir="u"/>
    <p:sndAc>
      <p:stSnd>
        <p:snd r:embed="rId1" name="arrow.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925615010"/>
      </p:ext>
    </p:extLst>
  </p:cSld>
  <p:clrMapOvr>
    <a:masterClrMapping/>
  </p:clrMapOvr>
  <p:transition spd="slow">
    <p:push dir="u"/>
    <p:sndAc>
      <p:stSnd>
        <p:snd r:embed="rId1" name="arrow.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3">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GB"/>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669269041"/>
      </p:ext>
    </p:extLst>
  </p:cSld>
  <p:clrMapOvr>
    <a:overrideClrMapping bg1="lt1" tx1="dk1" bg2="lt2" tx2="dk2" accent1="accent1" accent2="accent2" accent3="accent3" accent4="accent4" accent5="accent5" accent6="accent6" hlink="hlink" folHlink="folHlink"/>
  </p:clrMapOvr>
  <p:transition spd="slow">
    <p:push dir="u"/>
    <p:sndAc>
      <p:stSnd>
        <p:snd r:embed="rId1" name="arrow.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03815304"/>
      </p:ext>
    </p:extLst>
  </p:cSld>
  <p:clrMapOvr>
    <a:masterClrMapping/>
  </p:clrMapOvr>
  <p:transition spd="slow">
    <p:push dir="u"/>
    <p:sndAc>
      <p:stSnd>
        <p:snd r:embed="rId1" name="arrow.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374611450"/>
      </p:ext>
    </p:extLst>
  </p:cSld>
  <p:clrMapOvr>
    <a:masterClrMapping/>
  </p:clrMapOvr>
  <p:transition spd="slow">
    <p:push dir="u"/>
    <p:sndAc>
      <p:stSnd>
        <p:snd r:embed="rId1" name="arrow.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928765337"/>
      </p:ext>
    </p:extLst>
  </p:cSld>
  <p:clrMapOvr>
    <a:masterClrMapping/>
  </p:clrMapOvr>
  <p:transition spd="slow">
    <p:push dir="u"/>
    <p:sndAc>
      <p:stSnd>
        <p:snd r:embed="rId1" name="arrow.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18C200-9066-4495-9C69-CE6309B76323}"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893759007"/>
      </p:ext>
    </p:extLst>
  </p:cSld>
  <p:clrMapOvr>
    <a:masterClrMapping/>
  </p:clrMapOvr>
  <p:transition spd="slow">
    <p:push dir="u"/>
    <p:sndAc>
      <p:stSnd>
        <p:snd r:embed="rId1" name="arrow.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GB"/>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7318C200-9066-4495-9C69-CE6309B76323}" type="datetimeFigureOut">
              <a:rPr lang="en-US" smtClean="0"/>
              <a:t>2/10/2025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09D29CA-49F3-4010-901D-A079A7461F70}"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00913598"/>
      </p:ext>
    </p:extLst>
  </p:cSld>
  <p:clrMapOvr>
    <a:masterClrMapping/>
  </p:clrMapOvr>
  <p:transition spd="slow">
    <p:push dir="u"/>
    <p:sndAc>
      <p:stSnd>
        <p:snd r:embed="rId1" name="arrow.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09D29CA-49F3-4010-901D-A079A7461F70}"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072202"/>
      </p:ext>
    </p:extLst>
  </p:cSld>
  <p:clrMapOvr>
    <a:masterClrMapping/>
  </p:clrMapOvr>
  <p:transition spd="slow">
    <p:push dir="u"/>
    <p:sndAc>
      <p:stSnd>
        <p:snd r:embed="rId1" name="arrow.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713430659"/>
      </p:ext>
    </p:extLst>
  </p:cSld>
  <p:clrMapOvr>
    <a:masterClrMapping/>
  </p:clrMapOvr>
  <p:transition spd="slow">
    <p:push dir="u"/>
    <p:sndAc>
      <p:stSnd>
        <p:snd r:embed="rId1" name="arrow.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293789647"/>
      </p:ext>
    </p:extLst>
  </p:cSld>
  <p:clrMapOvr>
    <a:masterClrMapping/>
  </p:clrMapOvr>
  <p:transition spd="slow">
    <p:push dir="u"/>
    <p:sndAc>
      <p:stSnd>
        <p:snd r:embed="rId1" name="arrow.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563868233"/>
      </p:ext>
    </p:extLst>
  </p:cSld>
  <p:clrMapOvr>
    <a:masterClrMapping/>
  </p:clrMapOvr>
  <p:transition spd="slow">
    <p:push dir="u"/>
    <p:sndAc>
      <p:stSnd>
        <p:snd r:embed="rId1" name="arrow.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410045541"/>
      </p:ext>
    </p:extLst>
  </p:cSld>
  <p:clrMapOvr>
    <a:masterClrMapping/>
  </p:clrMapOvr>
  <p:transition spd="slow">
    <p:push dir="u"/>
    <p:sndAc>
      <p:stSnd>
        <p:snd r:embed="rId1" name="arrow.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049422911"/>
      </p:ext>
    </p:extLst>
  </p:cSld>
  <p:clrMapOvr>
    <a:masterClrMapping/>
  </p:clrMapOvr>
  <p:transition spd="slow">
    <p:push dir="u"/>
    <p:sndAc>
      <p:stSnd>
        <p:snd r:embed="rId1" name="arrow.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068304470"/>
      </p:ext>
    </p:extLst>
  </p:cSld>
  <p:clrMapOvr>
    <a:masterClrMapping/>
  </p:clrMapOvr>
  <p:transition spd="slow">
    <p:push dir="u"/>
    <p:sndAc>
      <p:stSnd>
        <p:snd r:embed="rId1" name="arrow.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18C200-9066-4495-9C69-CE6309B76323}"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358389294"/>
      </p:ext>
    </p:extLst>
  </p:cSld>
  <p:clrMapOvr>
    <a:masterClrMapping/>
  </p:clrMapOvr>
  <p:transition spd="slow">
    <p:push dir="u"/>
    <p:sndAc>
      <p:stSnd>
        <p:snd r:embed="rId1" name="arrow.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318C200-9066-4495-9C69-CE6309B76323}"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4237560271"/>
      </p:ext>
    </p:extLst>
  </p:cSld>
  <p:clrMapOvr>
    <a:masterClrMapping/>
  </p:clrMapOvr>
  <p:transition spd="slow">
    <p:push dir="u"/>
    <p:sndAc>
      <p:stSnd>
        <p:snd r:embed="rId1" name="arrow.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18C200-9066-4495-9C69-CE6309B76323}"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30468036"/>
      </p:ext>
    </p:extLst>
  </p:cSld>
  <p:clrMapOvr>
    <a:masterClrMapping/>
  </p:clrMapOvr>
  <p:transition spd="slow">
    <p:push dir="u"/>
    <p:sndAc>
      <p:stSnd>
        <p:snd r:embed="rId1" name="arrow.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2794855370"/>
      </p:ext>
    </p:extLst>
  </p:cSld>
  <p:clrMapOvr>
    <a:masterClrMapping/>
  </p:clrMapOvr>
  <p:transition spd="slow">
    <p:push dir="u"/>
    <p:sndAc>
      <p:stSnd>
        <p:snd r:embed="rId1" name="arrow.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318C200-9066-4495-9C69-CE6309B76323}"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57120099"/>
      </p:ext>
    </p:extLst>
  </p:cSld>
  <p:clrMapOvr>
    <a:masterClrMapping/>
  </p:clrMapOvr>
  <p:transition spd="slow">
    <p:push dir="u"/>
    <p:sndAc>
      <p:stSnd>
        <p:snd r:embed="rId1" name="arrow.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3709704655"/>
      </p:ext>
    </p:extLst>
  </p:cSld>
  <p:clrMapOvr>
    <a:masterClrMapping/>
  </p:clrMapOvr>
  <p:transition spd="slow">
    <p:push dir="u"/>
    <p:sndAc>
      <p:stSnd>
        <p:snd r:embed="rId1" name="arrow.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18C200-9066-4495-9C69-CE6309B76323}"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D29CA-49F3-4010-901D-A079A7461F70}" type="slidenum">
              <a:rPr lang="en-US" smtClean="0"/>
              <a:t>‹#›</a:t>
            </a:fld>
            <a:endParaRPr lang="en-US"/>
          </a:p>
        </p:txBody>
      </p:sp>
    </p:spTree>
    <p:extLst>
      <p:ext uri="{BB962C8B-B14F-4D97-AF65-F5344CB8AC3E}">
        <p14:creationId xmlns:p14="http://schemas.microsoft.com/office/powerpoint/2010/main" val="1547303558"/>
      </p:ext>
    </p:extLst>
  </p:cSld>
  <p:clrMapOvr>
    <a:masterClrMapping/>
  </p:clrMapOvr>
  <p:transition spd="slow">
    <p:push dir="u"/>
    <p:sndAc>
      <p:stSnd>
        <p:snd r:embed="rId1" name="arrow.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audio" Target="../media/audio1.wav"/><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audio" Target="../media/audio1.wav"/><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audio" Target="../media/audio1.wav"/><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4.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audio" Target="../media/audio1.wav"/><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5.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0">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318C200-9066-4495-9C69-CE6309B76323}" type="datetimeFigureOut">
              <a:rPr lang="en-US" smtClean="0"/>
              <a:t>2/10/2025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2335080303"/>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ransition spd="slow">
    <p:push dir="u"/>
    <p:sndAc>
      <p:stSnd>
        <p:snd r:embed="rId19" name="arrow.wav"/>
      </p:stSnd>
    </p:sndAc>
  </p:transition>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D85AF5-78A0-8CD6-EC24-208F98597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620A985-627E-BFBB-D50F-2957BCFDE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930108E-481E-CD01-1634-BF77BF99B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18C200-9066-4495-9C69-CE6309B76323}" type="datetimeFigureOut">
              <a:rPr lang="en-US" smtClean="0"/>
              <a:t>2/10/2025</a:t>
            </a:fld>
            <a:endParaRPr lang="en-US"/>
          </a:p>
        </p:txBody>
      </p:sp>
      <p:sp>
        <p:nvSpPr>
          <p:cNvPr id="5" name="Footer Placeholder 4">
            <a:extLst>
              <a:ext uri="{FF2B5EF4-FFF2-40B4-BE49-F238E27FC236}">
                <a16:creationId xmlns:a16="http://schemas.microsoft.com/office/drawing/2014/main" id="{3EED3AAA-4A19-9830-06B8-AFABA4AF93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81747B-1D9B-6FFE-F077-A0AE79FC9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176133883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slow">
    <p:push dir="u"/>
    <p:sndAc>
      <p:stSnd>
        <p:snd r:embed="rId13" name="arrow.wav"/>
      </p:stSnd>
    </p:sndAc>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318C200-9066-4495-9C69-CE6309B76323}" type="datetimeFigureOut">
              <a:rPr lang="en-US" smtClean="0"/>
              <a:t>2/10/2025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4146635676"/>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ransition spd="slow">
    <p:push dir="u"/>
    <p:sndAc>
      <p:stSnd>
        <p:snd r:embed="rId19" name="arrow.wav"/>
      </p:stSnd>
    </p:sndAc>
  </p:transition>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7318C200-9066-4495-9C69-CE6309B76323}" type="datetimeFigureOut">
              <a:rPr lang="en-US" smtClean="0"/>
              <a:t>2/10/2025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281797590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ransition spd="slow">
    <p:push dir="u"/>
    <p:sndAc>
      <p:stSnd>
        <p:snd r:embed="rId13" name="arrow.wav"/>
      </p:stSnd>
    </p:sndAc>
  </p:transition>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7318C200-9066-4495-9C69-CE6309B76323}" type="datetimeFigureOut">
              <a:rPr lang="en-US" smtClean="0"/>
              <a:t>2/10/2025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09D29CA-49F3-4010-901D-A079A7461F70}" type="slidenum">
              <a:rPr lang="en-US" smtClean="0"/>
              <a:t>‹#›</a:t>
            </a:fld>
            <a:endParaRPr lang="en-US"/>
          </a:p>
        </p:txBody>
      </p:sp>
    </p:spTree>
    <p:extLst>
      <p:ext uri="{BB962C8B-B14F-4D97-AF65-F5344CB8AC3E}">
        <p14:creationId xmlns:p14="http://schemas.microsoft.com/office/powerpoint/2010/main" val="27228265"/>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ransition spd="slow">
    <p:push dir="u"/>
    <p:sndAc>
      <p:stSnd>
        <p:snd r:embed="rId13" name="arrow.wav"/>
      </p:stSnd>
    </p:sndAc>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1.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1.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audio" Target="../media/audio1.wav"/><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package" Target="../embeddings/Microsoft_Excel_Worksheet.xlsx"/></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wav"/><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30.xml"/><Relationship Id="rId5" Type="http://schemas.openxmlformats.org/officeDocument/2006/relationships/image" Target="../media/image30.sv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jpeg"/><Relationship Id="rId7" Type="http://schemas.openxmlformats.org/officeDocument/2006/relationships/diagramColors" Target="../diagrams/colors5.xml"/><Relationship Id="rId2" Type="http://schemas.openxmlformats.org/officeDocument/2006/relationships/audio" Target="../media/audio1.wav"/><Relationship Id="rId1" Type="http://schemas.openxmlformats.org/officeDocument/2006/relationships/slideLayout" Target="../slideLayouts/slideLayout3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audio" Target="../media/audio1.wav"/><Relationship Id="rId1" Type="http://schemas.openxmlformats.org/officeDocument/2006/relationships/slideLayout" Target="../slideLayouts/slideLayout3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30.xml"/><Relationship Id="rId5" Type="http://schemas.openxmlformats.org/officeDocument/2006/relationships/image" Target="../media/image36.sv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audio" Target="../media/audio1.wav"/><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7E0C6FBF-429A-DF45-ECC7-33D6D0BAB98F}"/>
              </a:ext>
            </a:extLst>
          </p:cNvPr>
          <p:cNvPicPr>
            <a:picLocks/>
          </p:cNvPicPr>
          <p:nvPr/>
        </p:nvPicPr>
        <p:blipFill>
          <a:blip r:embed="rId3"/>
          <a:srcRect l="4652" t="9091" r="4439"/>
          <a:stretch/>
        </p:blipFill>
        <p:spPr>
          <a:xfrm>
            <a:off x="-3176" y="10"/>
            <a:ext cx="12192000" cy="6857991"/>
          </a:xfrm>
          <a:prstGeom prst="rect">
            <a:avLst/>
          </a:prstGeom>
        </p:spPr>
      </p:pic>
      <p:sp>
        <p:nvSpPr>
          <p:cNvPr id="74" name="Rectangle 73">
            <a:extLst>
              <a:ext uri="{FF2B5EF4-FFF2-40B4-BE49-F238E27FC236}">
                <a16:creationId xmlns:a16="http://schemas.microsoft.com/office/drawing/2014/main" id="{8C8D824E-2FE2-436D-BA86-C0386D8FA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249541"/>
            <a:ext cx="8968085" cy="1660332"/>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9809748-EF51-310F-6942-AB17237A48DC}"/>
              </a:ext>
            </a:extLst>
          </p:cNvPr>
          <p:cNvSpPr>
            <a:spLocks noGrp="1"/>
          </p:cNvSpPr>
          <p:nvPr>
            <p:ph type="ctrTitle"/>
          </p:nvPr>
        </p:nvSpPr>
        <p:spPr>
          <a:xfrm>
            <a:off x="680322" y="4402667"/>
            <a:ext cx="8133478" cy="940240"/>
          </a:xfrm>
        </p:spPr>
        <p:txBody>
          <a:bodyPr>
            <a:normAutofit/>
          </a:bodyPr>
          <a:lstStyle/>
          <a:p>
            <a:r>
              <a:rPr lang="en-US" sz="3000">
                <a:ln w="22225">
                  <a:solidFill>
                    <a:schemeClr val="tx1"/>
                  </a:solidFill>
                  <a:miter lim="800000"/>
                </a:ln>
              </a:rPr>
              <a:t>INVENTORY OPTIMIZATION STRATEGY REPORT </a:t>
            </a:r>
          </a:p>
        </p:txBody>
      </p:sp>
      <p:sp>
        <p:nvSpPr>
          <p:cNvPr id="3" name="Subtitle 2">
            <a:extLst>
              <a:ext uri="{FF2B5EF4-FFF2-40B4-BE49-F238E27FC236}">
                <a16:creationId xmlns:a16="http://schemas.microsoft.com/office/drawing/2014/main" id="{D994B037-C224-DD27-D5B6-0043897599C2}"/>
              </a:ext>
            </a:extLst>
          </p:cNvPr>
          <p:cNvSpPr>
            <a:spLocks noGrp="1"/>
          </p:cNvSpPr>
          <p:nvPr>
            <p:ph type="subTitle" idx="1"/>
          </p:nvPr>
        </p:nvSpPr>
        <p:spPr>
          <a:xfrm>
            <a:off x="680322" y="5342302"/>
            <a:ext cx="8133478" cy="406566"/>
          </a:xfrm>
        </p:spPr>
        <p:txBody>
          <a:bodyPr>
            <a:normAutofit/>
          </a:bodyPr>
          <a:lstStyle/>
          <a:p>
            <a:r>
              <a:rPr lang="en-US" sz="1800"/>
              <a:t> </a:t>
            </a:r>
          </a:p>
        </p:txBody>
      </p:sp>
      <p:sp>
        <p:nvSpPr>
          <p:cNvPr id="76" name="Rectangle 75">
            <a:extLst>
              <a:ext uri="{FF2B5EF4-FFF2-40B4-BE49-F238E27FC236}">
                <a16:creationId xmlns:a16="http://schemas.microsoft.com/office/drawing/2014/main" id="{D4E62E99-E55A-4404-B79D-9C8CC8523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4249541"/>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8" name="Rectangle 77">
            <a:extLst>
              <a:ext uri="{FF2B5EF4-FFF2-40B4-BE49-F238E27FC236}">
                <a16:creationId xmlns:a16="http://schemas.microsoft.com/office/drawing/2014/main" id="{6F2B71E6-6516-4BB6-B895-35E8F2892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02314"/>
            <a:ext cx="8968085" cy="275942"/>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BB39608-D59B-4A40-BD24-A3B510F02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5902314"/>
            <a:ext cx="3080285" cy="275942"/>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4287269"/>
      </p:ext>
    </p:extLst>
  </p:cSld>
  <p:clrMapOvr>
    <a:masterClrMapping/>
  </p:clrMapOvr>
  <p:transition spd="slow">
    <p:push dir="u"/>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F6BCB397-4790-4766-82B8-F6ED3BAAB0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63" name="Rectangle 62">
              <a:extLst>
                <a:ext uri="{FF2B5EF4-FFF2-40B4-BE49-F238E27FC236}">
                  <a16:creationId xmlns:a16="http://schemas.microsoft.com/office/drawing/2014/main" id="{BDB66795-F5BA-4B6C-951C-11DBE9D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12C790B8-181F-443B-9B01-D67B4B94ABA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42" name="Picture 41" descr="Coffee and office supplies">
            <a:extLst>
              <a:ext uri="{FF2B5EF4-FFF2-40B4-BE49-F238E27FC236}">
                <a16:creationId xmlns:a16="http://schemas.microsoft.com/office/drawing/2014/main" id="{3037E7ED-66EF-C538-2AEC-B75CF270C3F4}"/>
              </a:ext>
            </a:extLst>
          </p:cNvPr>
          <p:cNvPicPr>
            <a:picLocks noChangeAspect="1"/>
          </p:cNvPicPr>
          <p:nvPr/>
        </p:nvPicPr>
        <p:blipFill>
          <a:blip r:embed="rId4"/>
          <a:srcRect r="54817"/>
          <a:stretch/>
        </p:blipFill>
        <p:spPr>
          <a:xfrm>
            <a:off x="7547810" y="10"/>
            <a:ext cx="4641013" cy="6856310"/>
          </a:xfrm>
          <a:prstGeom prst="rect">
            <a:avLst/>
          </a:prstGeom>
          <a:ln>
            <a:noFill/>
          </a:ln>
          <a:effectLst/>
        </p:spPr>
      </p:pic>
      <p:sp>
        <p:nvSpPr>
          <p:cNvPr id="66" name="Rectangle 65">
            <a:extLst>
              <a:ext uri="{FF2B5EF4-FFF2-40B4-BE49-F238E27FC236}">
                <a16:creationId xmlns:a16="http://schemas.microsoft.com/office/drawing/2014/main" id="{0917D5C4-7346-4128-A893-88F9031A3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96704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14BA5B6-7814-452F-34D8-E93F43C09579}"/>
              </a:ext>
            </a:extLst>
          </p:cNvPr>
          <p:cNvSpPr>
            <a:spLocks noGrp="1"/>
          </p:cNvSpPr>
          <p:nvPr>
            <p:ph type="title"/>
          </p:nvPr>
        </p:nvSpPr>
        <p:spPr>
          <a:xfrm>
            <a:off x="680321" y="753228"/>
            <a:ext cx="7087552" cy="1080938"/>
          </a:xfrm>
        </p:spPr>
        <p:txBody>
          <a:bodyPr>
            <a:normAutofit/>
          </a:bodyPr>
          <a:lstStyle/>
          <a:p>
            <a:r>
              <a:rPr lang="en-US"/>
              <a:t>  SECTION OVERVIEW</a:t>
            </a:r>
          </a:p>
        </p:txBody>
      </p:sp>
      <p:pic>
        <p:nvPicPr>
          <p:cNvPr id="68" name="Picture 67">
            <a:extLst>
              <a:ext uri="{FF2B5EF4-FFF2-40B4-BE49-F238E27FC236}">
                <a16:creationId xmlns:a16="http://schemas.microsoft.com/office/drawing/2014/main" id="{4EC06EAC-4D4E-4BEC-A580-543F5E0EDE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092A323D-82A1-278B-CA5E-4600DB1D6000}"/>
              </a:ext>
            </a:extLst>
          </p:cNvPr>
          <p:cNvSpPr>
            <a:spLocks noGrp="1"/>
          </p:cNvSpPr>
          <p:nvPr>
            <p:ph idx="1"/>
          </p:nvPr>
        </p:nvSpPr>
        <p:spPr>
          <a:xfrm>
            <a:off x="680321" y="2336873"/>
            <a:ext cx="6423211" cy="3599316"/>
          </a:xfrm>
        </p:spPr>
        <p:txBody>
          <a:bodyPr numCol="1">
            <a:normAutofit/>
          </a:bodyPr>
          <a:lstStyle/>
          <a:p>
            <a:pPr marL="0" indent="0">
              <a:buNone/>
            </a:pPr>
            <a:endParaRPr lang="en-US" sz="2000" dirty="0"/>
          </a:p>
          <a:p>
            <a:pPr marL="342900" indent="-342900">
              <a:buFont typeface="Arial" panose="020B0604020202020204" pitchFamily="34" charset="0"/>
              <a:buChar char="•"/>
            </a:pPr>
            <a:r>
              <a:rPr lang="en-US" sz="2000" dirty="0"/>
              <a:t>CONTEXT OF WORK</a:t>
            </a:r>
          </a:p>
          <a:p>
            <a:pPr marL="342900" indent="-342900">
              <a:buFont typeface="Arial" panose="020B0604020202020204" pitchFamily="34" charset="0"/>
              <a:buChar char="•"/>
            </a:pPr>
            <a:r>
              <a:rPr lang="en-US" sz="2000" dirty="0"/>
              <a:t>MISSION STATEMENT</a:t>
            </a:r>
          </a:p>
          <a:p>
            <a:pPr marL="342900" indent="-342900">
              <a:buFont typeface="Arial" panose="020B0604020202020204" pitchFamily="34" charset="0"/>
              <a:buChar char="•"/>
            </a:pPr>
            <a:r>
              <a:rPr lang="en-US" sz="2000" dirty="0"/>
              <a:t>ENHANCING INVENTORY EFFICIENCY</a:t>
            </a:r>
          </a:p>
          <a:p>
            <a:pPr marL="342900" indent="-342900">
              <a:buFont typeface="Arial" panose="020B0604020202020204" pitchFamily="34" charset="0"/>
              <a:buChar char="•"/>
            </a:pPr>
            <a:r>
              <a:rPr lang="en-US" sz="2000" dirty="0"/>
              <a:t> RECOMMENDATIONS FOR ENHANCED INVENTORY MANAGEMENT</a:t>
            </a:r>
          </a:p>
          <a:p>
            <a:pPr marL="342900" indent="-342900">
              <a:buFont typeface="Arial" panose="020B0604020202020204" pitchFamily="34" charset="0"/>
              <a:buChar char="•"/>
            </a:pPr>
            <a:r>
              <a:rPr lang="en-US" sz="2000" dirty="0"/>
              <a:t>FINAL TAKEAWAYS</a:t>
            </a:r>
          </a:p>
          <a:p>
            <a:r>
              <a:rPr lang="en-US" sz="2000" dirty="0"/>
              <a:t> WRAP-UP</a:t>
            </a:r>
          </a:p>
        </p:txBody>
      </p:sp>
    </p:spTree>
    <p:extLst>
      <p:ext uri="{BB962C8B-B14F-4D97-AF65-F5344CB8AC3E}">
        <p14:creationId xmlns:p14="http://schemas.microsoft.com/office/powerpoint/2010/main" val="606526151"/>
      </p:ext>
    </p:extLst>
  </p:cSld>
  <p:clrMapOvr>
    <a:masterClrMapping/>
  </p:clrMapOvr>
  <p:transition spd="slow">
    <p:push dir="u"/>
    <p:sndAc>
      <p:stSnd>
        <p:snd r:embed="rId2" name="arrow.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485FFDC-0CAD-450C-A1F1-75E392CC8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F9672BDB-4ABD-40E5-A8B8-F7340E3BD8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8" name="Rectangle 37">
            <a:extLst>
              <a:ext uri="{FF2B5EF4-FFF2-40B4-BE49-F238E27FC236}">
                <a16:creationId xmlns:a16="http://schemas.microsoft.com/office/drawing/2014/main" id="{B1FA2BC7-3F19-4E1C-B3D1-19995D9F6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62FF40B5-1E36-4442-8D28-D1AA571AD2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40" name="Rectangle 39">
            <a:extLst>
              <a:ext uri="{FF2B5EF4-FFF2-40B4-BE49-F238E27FC236}">
                <a16:creationId xmlns:a16="http://schemas.microsoft.com/office/drawing/2014/main" id="{73C09592-2DB2-47C0-A5CB-BD39288D1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850D59-D391-0FFA-8CCE-8AE6107F08E4}"/>
              </a:ext>
            </a:extLst>
          </p:cNvPr>
          <p:cNvSpPr>
            <a:spLocks noGrp="1"/>
          </p:cNvSpPr>
          <p:nvPr>
            <p:ph type="title"/>
          </p:nvPr>
        </p:nvSpPr>
        <p:spPr>
          <a:xfrm>
            <a:off x="680321" y="2063262"/>
            <a:ext cx="3739279" cy="2661052"/>
          </a:xfrm>
        </p:spPr>
        <p:txBody>
          <a:bodyPr>
            <a:normAutofit/>
          </a:bodyPr>
          <a:lstStyle/>
          <a:p>
            <a:pPr algn="r"/>
            <a:r>
              <a:rPr lang="en-US" sz="4400"/>
              <a:t>  CONTEXT OF WORK </a:t>
            </a:r>
          </a:p>
        </p:txBody>
      </p:sp>
      <p:graphicFrame>
        <p:nvGraphicFramePr>
          <p:cNvPr id="18" name="Content Placeholder 2">
            <a:extLst>
              <a:ext uri="{FF2B5EF4-FFF2-40B4-BE49-F238E27FC236}">
                <a16:creationId xmlns:a16="http://schemas.microsoft.com/office/drawing/2014/main" id="{552EF50E-8ADB-06CE-B9D5-4149830C0C0F}"/>
              </a:ext>
            </a:extLst>
          </p:cNvPr>
          <p:cNvGraphicFramePr>
            <a:graphicFrameLocks noGrp="1"/>
          </p:cNvGraphicFramePr>
          <p:nvPr>
            <p:ph idx="1"/>
            <p:extLst>
              <p:ext uri="{D42A27DB-BD31-4B8C-83A1-F6EECF244321}">
                <p14:modId xmlns:p14="http://schemas.microsoft.com/office/powerpoint/2010/main" val="1162630073"/>
              </p:ext>
            </p:extLst>
          </p:nvPr>
        </p:nvGraphicFramePr>
        <p:xfrm>
          <a:off x="5284788" y="639763"/>
          <a:ext cx="6397460" cy="58240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17781490"/>
      </p:ext>
    </p:extLst>
  </p:cSld>
  <p:clrMapOvr>
    <a:masterClrMapping/>
  </p:clrMapOvr>
  <p:transition spd="slow">
    <p:push dir="u"/>
    <p:sndAc>
      <p:stSnd>
        <p:snd r:embed="rId2" name="arrow.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F42D-3B46-ECCF-6CA1-37FDBECD60BB}"/>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485FFDC-0CAD-450C-A1F1-75E392CC8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F9672BDB-4ABD-40E5-A8B8-F7340E3BD8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6" name="Rectangle 75">
            <a:extLst>
              <a:ext uri="{FF2B5EF4-FFF2-40B4-BE49-F238E27FC236}">
                <a16:creationId xmlns:a16="http://schemas.microsoft.com/office/drawing/2014/main" id="{B1FA2BC7-3F19-4E1C-B3D1-19995D9F6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62FF40B5-1E36-4442-8D28-D1AA571AD2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78" name="Rectangle 77">
            <a:extLst>
              <a:ext uri="{FF2B5EF4-FFF2-40B4-BE49-F238E27FC236}">
                <a16:creationId xmlns:a16="http://schemas.microsoft.com/office/drawing/2014/main" id="{73C09592-2DB2-47C0-A5CB-BD39288D1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B84BDBA-54F9-2AE0-A541-CC9E2F588B61}"/>
              </a:ext>
            </a:extLst>
          </p:cNvPr>
          <p:cNvSpPr>
            <a:spLocks noGrp="1"/>
          </p:cNvSpPr>
          <p:nvPr>
            <p:ph type="title"/>
          </p:nvPr>
        </p:nvSpPr>
        <p:spPr>
          <a:xfrm>
            <a:off x="680321" y="2063262"/>
            <a:ext cx="3739279" cy="2661052"/>
          </a:xfrm>
        </p:spPr>
        <p:txBody>
          <a:bodyPr>
            <a:normAutofit/>
          </a:bodyPr>
          <a:lstStyle/>
          <a:p>
            <a:pPr algn="r"/>
            <a:r>
              <a:rPr lang="en-US" sz="4400"/>
              <a:t>  CONTEXT OF WORK </a:t>
            </a:r>
          </a:p>
        </p:txBody>
      </p:sp>
      <p:graphicFrame>
        <p:nvGraphicFramePr>
          <p:cNvPr id="18" name="Content Placeholder 2">
            <a:extLst>
              <a:ext uri="{FF2B5EF4-FFF2-40B4-BE49-F238E27FC236}">
                <a16:creationId xmlns:a16="http://schemas.microsoft.com/office/drawing/2014/main" id="{16354218-FD65-78A3-2126-67C08182DAC2}"/>
              </a:ext>
            </a:extLst>
          </p:cNvPr>
          <p:cNvGraphicFramePr>
            <a:graphicFrameLocks noGrp="1"/>
          </p:cNvGraphicFramePr>
          <p:nvPr>
            <p:ph idx="1"/>
            <p:extLst>
              <p:ext uri="{D42A27DB-BD31-4B8C-83A1-F6EECF244321}">
                <p14:modId xmlns:p14="http://schemas.microsoft.com/office/powerpoint/2010/main" val="4025821266"/>
              </p:ext>
            </p:extLst>
          </p:nvPr>
        </p:nvGraphicFramePr>
        <p:xfrm>
          <a:off x="5290449" y="604550"/>
          <a:ext cx="6261100" cy="59761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64033237"/>
      </p:ext>
    </p:extLst>
  </p:cSld>
  <p:clrMapOvr>
    <a:masterClrMapping/>
  </p:clrMapOvr>
  <p:transition spd="slow">
    <p:push dir="u"/>
    <p:sndAc>
      <p:stSnd>
        <p:snd r:embed="rId2" name="arrow.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F6079-46D8-249E-34B5-8B3C54EF3677}"/>
              </a:ext>
            </a:extLst>
          </p:cNvPr>
          <p:cNvSpPr>
            <a:spLocks noGrp="1"/>
          </p:cNvSpPr>
          <p:nvPr>
            <p:ph type="title"/>
          </p:nvPr>
        </p:nvSpPr>
        <p:spPr>
          <a:xfrm>
            <a:off x="680321" y="753228"/>
            <a:ext cx="9613861" cy="1080938"/>
          </a:xfrm>
        </p:spPr>
        <p:txBody>
          <a:bodyPr>
            <a:normAutofit/>
          </a:bodyPr>
          <a:lstStyle/>
          <a:p>
            <a:r>
              <a:rPr lang="en-US"/>
              <a:t>                  MISSION STATEMENT </a:t>
            </a:r>
          </a:p>
        </p:txBody>
      </p:sp>
      <p:sp>
        <p:nvSpPr>
          <p:cNvPr id="3" name="Content Placeholder 2">
            <a:extLst>
              <a:ext uri="{FF2B5EF4-FFF2-40B4-BE49-F238E27FC236}">
                <a16:creationId xmlns:a16="http://schemas.microsoft.com/office/drawing/2014/main" id="{63399EA8-7C76-18C5-D6AF-52764DBB4769}"/>
              </a:ext>
            </a:extLst>
          </p:cNvPr>
          <p:cNvSpPr>
            <a:spLocks noGrp="1"/>
          </p:cNvSpPr>
          <p:nvPr>
            <p:ph idx="1"/>
          </p:nvPr>
        </p:nvSpPr>
        <p:spPr>
          <a:xfrm>
            <a:off x="680321" y="2336873"/>
            <a:ext cx="6423211" cy="3599316"/>
          </a:xfrm>
        </p:spPr>
        <p:txBody>
          <a:bodyPr>
            <a:normAutofit/>
          </a:bodyPr>
          <a:lstStyle/>
          <a:p>
            <a:pPr marL="0" indent="0">
              <a:buNone/>
            </a:pPr>
            <a:r>
              <a:rPr lang="en-US" sz="2800" dirty="0"/>
              <a:t>We aim to transform inventory management from a guessing game into a data-driven strategy. By analyzing seasonal sales trends, we’ll ensure shelves are stocked just right—no more overflows of slow movers or awkward "out-of-stock" apologies to customers</a:t>
            </a:r>
          </a:p>
        </p:txBody>
      </p:sp>
      <p:pic>
        <p:nvPicPr>
          <p:cNvPr id="7" name="Graphic 6" descr="Playbook">
            <a:extLst>
              <a:ext uri="{FF2B5EF4-FFF2-40B4-BE49-F238E27FC236}">
                <a16:creationId xmlns:a16="http://schemas.microsoft.com/office/drawing/2014/main" id="{E2B6452F-BC7F-2D1F-19D0-B6CCE38EE6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37463" y="2807872"/>
            <a:ext cx="2656718" cy="2656718"/>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671211445"/>
      </p:ext>
    </p:extLst>
  </p:cSld>
  <p:clrMapOvr>
    <a:masterClrMapping/>
  </p:clrMapOvr>
  <p:transition spd="slow">
    <p:push dir="u"/>
    <p:sndAc>
      <p:stSnd>
        <p:snd r:embed="rId2" name="arrow.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12E3B-C3E6-DF65-2C41-24100F715C41}"/>
              </a:ext>
            </a:extLst>
          </p:cNvPr>
          <p:cNvSpPr>
            <a:spLocks noGrp="1"/>
          </p:cNvSpPr>
          <p:nvPr>
            <p:ph type="title"/>
          </p:nvPr>
        </p:nvSpPr>
        <p:spPr>
          <a:xfrm>
            <a:off x="680321" y="753228"/>
            <a:ext cx="9613861" cy="1080938"/>
          </a:xfrm>
        </p:spPr>
        <p:txBody>
          <a:bodyPr>
            <a:normAutofit/>
          </a:bodyPr>
          <a:lstStyle/>
          <a:p>
            <a:r>
              <a:rPr lang="en-US"/>
              <a:t>                  MISSION STATEMENT </a:t>
            </a:r>
            <a:endParaRPr lang="en-US" dirty="0"/>
          </a:p>
        </p:txBody>
      </p:sp>
      <p:graphicFrame>
        <p:nvGraphicFramePr>
          <p:cNvPr id="5" name="Content Placeholder 2">
            <a:extLst>
              <a:ext uri="{FF2B5EF4-FFF2-40B4-BE49-F238E27FC236}">
                <a16:creationId xmlns:a16="http://schemas.microsoft.com/office/drawing/2014/main" id="{5359FE84-3CC6-F1D0-6F0F-75A24D2652B1}"/>
              </a:ext>
            </a:extLst>
          </p:cNvPr>
          <p:cNvGraphicFramePr>
            <a:graphicFrameLocks noGrp="1"/>
          </p:cNvGraphicFramePr>
          <p:nvPr>
            <p:ph idx="1"/>
            <p:extLst>
              <p:ext uri="{D42A27DB-BD31-4B8C-83A1-F6EECF244321}">
                <p14:modId xmlns:p14="http://schemas.microsoft.com/office/powerpoint/2010/main" val="2579767195"/>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8391241"/>
      </p:ext>
    </p:extLst>
  </p:cSld>
  <p:clrMapOvr>
    <a:masterClrMapping/>
  </p:clrMapOvr>
  <p:transition spd="slow">
    <p:push dir="u"/>
    <p:sndAc>
      <p:stSnd>
        <p:snd r:embed="rId2" name="arrow.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975E-61EA-E63B-EBD1-CF7BB17AF280}"/>
              </a:ext>
            </a:extLst>
          </p:cNvPr>
          <p:cNvSpPr>
            <a:spLocks noGrp="1"/>
          </p:cNvSpPr>
          <p:nvPr>
            <p:ph type="title"/>
          </p:nvPr>
        </p:nvSpPr>
        <p:spPr>
          <a:xfrm>
            <a:off x="680321" y="753228"/>
            <a:ext cx="9613861" cy="1080938"/>
          </a:xfrm>
        </p:spPr>
        <p:txBody>
          <a:bodyPr>
            <a:normAutofit/>
          </a:bodyPr>
          <a:lstStyle/>
          <a:p>
            <a:r>
              <a:rPr lang="en-US" dirty="0"/>
              <a:t>                 MISSION STATEMENT </a:t>
            </a:r>
          </a:p>
        </p:txBody>
      </p:sp>
      <p:sp>
        <p:nvSpPr>
          <p:cNvPr id="3" name="Content Placeholder 2">
            <a:extLst>
              <a:ext uri="{FF2B5EF4-FFF2-40B4-BE49-F238E27FC236}">
                <a16:creationId xmlns:a16="http://schemas.microsoft.com/office/drawing/2014/main" id="{FE1748F1-2D27-348C-7729-74416666029C}"/>
              </a:ext>
            </a:extLst>
          </p:cNvPr>
          <p:cNvSpPr>
            <a:spLocks noGrp="1"/>
          </p:cNvSpPr>
          <p:nvPr>
            <p:ph idx="1"/>
          </p:nvPr>
        </p:nvSpPr>
        <p:spPr>
          <a:xfrm>
            <a:off x="680321" y="2336873"/>
            <a:ext cx="6423211" cy="3599316"/>
          </a:xfrm>
        </p:spPr>
        <p:txBody>
          <a:bodyPr>
            <a:normAutofit fontScale="92500" lnSpcReduction="10000"/>
          </a:bodyPr>
          <a:lstStyle/>
          <a:p>
            <a:pPr marL="0" indent="0">
              <a:buNone/>
            </a:pPr>
            <a:r>
              <a:rPr lang="en-US" sz="2800" dirty="0"/>
              <a:t>Our focus is on optimizing inventory levels to balance supply and demand, improving product availability, and enhancing customer satisfaction. Through smarter insights and efficient forecasting, we aim to keep operations smooth, reduce waste, and make sure the right products are always in the right place—because nobody likes an empty shelf or a warehouse full of unsold gadgets</a:t>
            </a:r>
          </a:p>
        </p:txBody>
      </p:sp>
      <p:pic>
        <p:nvPicPr>
          <p:cNvPr id="7" name="Graphic 6" descr="Head with Gears">
            <a:extLst>
              <a:ext uri="{FF2B5EF4-FFF2-40B4-BE49-F238E27FC236}">
                <a16:creationId xmlns:a16="http://schemas.microsoft.com/office/drawing/2014/main" id="{DF4B6289-9BF3-4AE5-D231-AA972D332C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37463" y="2807872"/>
            <a:ext cx="2656718" cy="2656718"/>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666452962"/>
      </p:ext>
    </p:extLst>
  </p:cSld>
  <p:clrMapOvr>
    <a:masterClrMapping/>
  </p:clrMapOvr>
  <p:transition spd="slow">
    <p:push dir="u"/>
    <p:sndAc>
      <p:stSnd>
        <p:snd r:embed="rId2" name="arrow.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4833F3A5-AC38-A8E8-F016-54A1D12D3E48}"/>
              </a:ext>
            </a:extLst>
          </p:cNvPr>
          <p:cNvPicPr>
            <a:picLocks noChangeAspect="1"/>
          </p:cNvPicPr>
          <p:nvPr/>
        </p:nvPicPr>
        <p:blipFill>
          <a:blip r:embed="rId3">
            <a:alphaModFix amt="35000"/>
          </a:blip>
          <a:srcRect t="5448" b="10282"/>
          <a:stretch/>
        </p:blipFill>
        <p:spPr>
          <a:xfrm>
            <a:off x="20" y="1"/>
            <a:ext cx="12191980" cy="6857999"/>
          </a:xfrm>
          <a:prstGeom prst="rect">
            <a:avLst/>
          </a:prstGeom>
        </p:spPr>
      </p:pic>
      <p:sp>
        <p:nvSpPr>
          <p:cNvPr id="24" name="Title 1">
            <a:extLst>
              <a:ext uri="{FF2B5EF4-FFF2-40B4-BE49-F238E27FC236}">
                <a16:creationId xmlns:a16="http://schemas.microsoft.com/office/drawing/2014/main" id="{6DB9A1FA-E199-5F06-D5AE-F7A38B2834E7}"/>
              </a:ext>
            </a:extLst>
          </p:cNvPr>
          <p:cNvSpPr>
            <a:spLocks noGrp="1"/>
          </p:cNvSpPr>
          <p:nvPr>
            <p:ph type="title"/>
          </p:nvPr>
        </p:nvSpPr>
        <p:spPr>
          <a:xfrm>
            <a:off x="838199" y="1065862"/>
            <a:ext cx="6052955" cy="4726276"/>
          </a:xfrm>
        </p:spPr>
        <p:txBody>
          <a:bodyPr vert="horz" lIns="91440" tIns="45720" rIns="91440" bIns="45720" rtlCol="0">
            <a:normAutofit/>
          </a:bodyPr>
          <a:lstStyle/>
          <a:p>
            <a:pPr algn="r"/>
            <a:r>
              <a:rPr lang="en-US" sz="7400" dirty="0">
                <a:ln w="22225">
                  <a:solidFill>
                    <a:srgbClr val="FFFFFF"/>
                  </a:solidFill>
                </a:ln>
                <a:noFill/>
              </a:rPr>
              <a:t>ENHANCHING INVENTORY</a:t>
            </a:r>
            <a:br>
              <a:rPr lang="en-US" sz="7400" dirty="0">
                <a:ln w="22225">
                  <a:solidFill>
                    <a:srgbClr val="FFFFFF"/>
                  </a:solidFill>
                </a:ln>
                <a:noFill/>
              </a:rPr>
            </a:br>
            <a:r>
              <a:rPr lang="en-US" sz="7400" dirty="0">
                <a:ln w="22225">
                  <a:solidFill>
                    <a:srgbClr val="FFFFFF"/>
                  </a:solidFill>
                </a:ln>
                <a:noFill/>
              </a:rPr>
              <a:t>EFFICIENCY </a:t>
            </a:r>
          </a:p>
        </p:txBody>
      </p:sp>
      <p:cxnSp>
        <p:nvCxnSpPr>
          <p:cNvPr id="70" name="Straight Connector 69">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174504"/>
      </p:ext>
    </p:extLst>
  </p:cSld>
  <p:clrMapOvr>
    <a:overrideClrMapping bg1="dk1" tx1="lt1" bg2="dk2" tx2="lt2" accent1="accent1" accent2="accent2" accent3="accent3" accent4="accent4" accent5="accent5" accent6="accent6" hlink="hlink" folHlink="folHlink"/>
  </p:clrMapOvr>
  <p:transition spd="slow">
    <p:push dir="u"/>
    <p:sndAc>
      <p:stSnd>
        <p:snd r:embed="rId2" name="arrow.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2B1A4-5D1A-0637-8C05-6D4C725B1F61}"/>
              </a:ext>
            </a:extLst>
          </p:cNvPr>
          <p:cNvSpPr>
            <a:spLocks noGrp="1"/>
          </p:cNvSpPr>
          <p:nvPr>
            <p:ph type="title"/>
          </p:nvPr>
        </p:nvSpPr>
        <p:spPr>
          <a:xfrm>
            <a:off x="680321" y="753228"/>
            <a:ext cx="9613861" cy="1080938"/>
          </a:xfrm>
        </p:spPr>
        <p:txBody>
          <a:bodyPr>
            <a:normAutofit/>
          </a:bodyPr>
          <a:lstStyle/>
          <a:p>
            <a:r>
              <a:rPr lang="en-US"/>
              <a:t>ENHANCING INVENTORY EFFICIENCY</a:t>
            </a:r>
          </a:p>
        </p:txBody>
      </p:sp>
      <p:sp>
        <p:nvSpPr>
          <p:cNvPr id="3" name="Content Placeholder 2">
            <a:extLst>
              <a:ext uri="{FF2B5EF4-FFF2-40B4-BE49-F238E27FC236}">
                <a16:creationId xmlns:a16="http://schemas.microsoft.com/office/drawing/2014/main" id="{D7FB502D-20D8-C575-7567-6B53785E6A9A}"/>
              </a:ext>
            </a:extLst>
          </p:cNvPr>
          <p:cNvSpPr>
            <a:spLocks noGrp="1"/>
          </p:cNvSpPr>
          <p:nvPr>
            <p:ph idx="1"/>
          </p:nvPr>
        </p:nvSpPr>
        <p:spPr>
          <a:xfrm>
            <a:off x="680321" y="2336872"/>
            <a:ext cx="6679849" cy="4521127"/>
          </a:xfrm>
        </p:spPr>
        <p:txBody>
          <a:bodyPr>
            <a:normAutofit fontScale="92500"/>
          </a:bodyPr>
          <a:lstStyle/>
          <a:p>
            <a:pPr marL="0" indent="0">
              <a:lnSpc>
                <a:spcPct val="170000"/>
              </a:lnSpc>
              <a:buNone/>
            </a:pPr>
            <a:r>
              <a:rPr lang="en-US" sz="1800" dirty="0"/>
              <a:t>In this next section, I will walk you through how I approached the challenge of enhancing inventory efficiency by leveraging data-driven methodologies. This involved working with detailed, targeted questions to uncover key inefficiencies, utilizing SQL queries to extract and analyze critical data points, and applying trend analysis to identify patterns and opportunities for improvement. By integrating these insights, I was able to map out strategic solutions aimed at optimizing inventory management, reducing waste, and improving overall operational performance. Let’s dive into the key findings and strategies.</a:t>
            </a:r>
          </a:p>
        </p:txBody>
      </p:sp>
      <p:pic>
        <p:nvPicPr>
          <p:cNvPr id="29" name="Graphic 28" descr="Laptop Secure">
            <a:extLst>
              <a:ext uri="{FF2B5EF4-FFF2-40B4-BE49-F238E27FC236}">
                <a16:creationId xmlns:a16="http://schemas.microsoft.com/office/drawing/2014/main" id="{2F365FDF-5340-7FB8-2804-47E783237A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37463" y="2807872"/>
            <a:ext cx="2656718" cy="2656718"/>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383543748"/>
      </p:ext>
    </p:extLst>
  </p:cSld>
  <p:clrMapOvr>
    <a:masterClrMapping/>
  </p:clrMapOvr>
  <p:transition spd="slow">
    <p:push dir="u"/>
    <p:sndAc>
      <p:stSnd>
        <p:snd r:embed="rId2" name="arrow.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36C09-16BA-4141-A705-C6B5B5A4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81776" y="0"/>
            <a:ext cx="9176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CE521D-42CE-4CD9-AFFE-37255AC0A6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460C2540-36DC-4C0A-A9C0-231ED365D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81776" cy="6858000"/>
          </a:xfrm>
          <a:prstGeom prst="rect">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3B9519-4D68-AC4C-92DA-996DCEB0F9CF}"/>
              </a:ext>
            </a:extLst>
          </p:cNvPr>
          <p:cNvSpPr>
            <a:spLocks noGrp="1"/>
          </p:cNvSpPr>
          <p:nvPr>
            <p:ph type="title"/>
          </p:nvPr>
        </p:nvSpPr>
        <p:spPr>
          <a:xfrm>
            <a:off x="215626" y="87499"/>
            <a:ext cx="9613861" cy="1080938"/>
          </a:xfrm>
        </p:spPr>
        <p:txBody>
          <a:bodyPr>
            <a:normAutofit/>
          </a:bodyPr>
          <a:lstStyle/>
          <a:p>
            <a:r>
              <a:rPr lang="en-US" dirty="0">
                <a:solidFill>
                  <a:schemeClr val="tx2">
                    <a:lumMod val="50000"/>
                  </a:schemeClr>
                </a:solidFill>
              </a:rPr>
              <a:t>ELECTRONICS GENERATES THE HIGHEST SALES VOLUME OUT OF ALL THE CATEGORIES</a:t>
            </a:r>
          </a:p>
        </p:txBody>
      </p:sp>
      <p:sp>
        <p:nvSpPr>
          <p:cNvPr id="3" name="Content Placeholder 2">
            <a:extLst>
              <a:ext uri="{FF2B5EF4-FFF2-40B4-BE49-F238E27FC236}">
                <a16:creationId xmlns:a16="http://schemas.microsoft.com/office/drawing/2014/main" id="{2D548C43-959B-D5EA-7994-8FF95F44A54D}"/>
              </a:ext>
            </a:extLst>
          </p:cNvPr>
          <p:cNvSpPr>
            <a:spLocks noGrp="1"/>
          </p:cNvSpPr>
          <p:nvPr>
            <p:ph idx="1"/>
          </p:nvPr>
        </p:nvSpPr>
        <p:spPr>
          <a:xfrm>
            <a:off x="215626" y="1255936"/>
            <a:ext cx="11066150" cy="5602064"/>
          </a:xfrm>
        </p:spPr>
        <p:txBody>
          <a:bodyPr numCol="1">
            <a:normAutofit/>
          </a:bodyPr>
          <a:lstStyle/>
          <a:p>
            <a:pPr marL="0" indent="0">
              <a:buNone/>
            </a:pPr>
            <a:r>
              <a:rPr lang="en-US" sz="2000" dirty="0"/>
              <a:t> </a:t>
            </a:r>
          </a:p>
          <a:p>
            <a:pPr marL="0" indent="0">
              <a:buNone/>
            </a:pPr>
            <a:r>
              <a:rPr lang="en-US" sz="2000" dirty="0">
                <a:solidFill>
                  <a:schemeClr val="tx2">
                    <a:lumMod val="50000"/>
                  </a:schemeClr>
                </a:solidFill>
              </a:rPr>
              <a:t>TOP PERFORMING PRODUCT CATEGORIES                                    KEY  HIGHLIGHTS       </a:t>
            </a:r>
          </a:p>
          <a:p>
            <a:pPr marL="0" indent="0">
              <a:buNone/>
            </a:pPr>
            <a:r>
              <a:rPr lang="en-US" sz="2000" dirty="0">
                <a:solidFill>
                  <a:schemeClr val="tx2">
                    <a:lumMod val="50000"/>
                  </a:schemeClr>
                </a:solidFill>
              </a:rPr>
              <a:t>                                                                                         </a:t>
            </a:r>
          </a:p>
          <a:p>
            <a:r>
              <a:rPr lang="en-US" sz="2000" dirty="0">
                <a:solidFill>
                  <a:schemeClr val="tx2">
                    <a:lumMod val="50000"/>
                  </a:schemeClr>
                </a:solidFill>
              </a:rPr>
              <a:t>                                                                                    A.    This chart depicts in order the                                                              </a:t>
            </a:r>
          </a:p>
          <a:p>
            <a:r>
              <a:rPr lang="en-US" sz="2000" dirty="0">
                <a:solidFill>
                  <a:schemeClr val="tx2">
                    <a:lumMod val="50000"/>
                  </a:schemeClr>
                </a:solidFill>
              </a:rPr>
              <a:t>                                                                                       highest to the lowest performing </a:t>
            </a:r>
          </a:p>
          <a:p>
            <a:r>
              <a:rPr lang="en-US" sz="2000" dirty="0">
                <a:solidFill>
                  <a:schemeClr val="tx2">
                    <a:lumMod val="50000"/>
                  </a:schemeClr>
                </a:solidFill>
              </a:rPr>
              <a:t>                                                                                       category in respect to Sales </a:t>
            </a:r>
          </a:p>
          <a:p>
            <a:r>
              <a:rPr lang="en-US" sz="2000" dirty="0">
                <a:solidFill>
                  <a:schemeClr val="tx2">
                    <a:lumMod val="50000"/>
                  </a:schemeClr>
                </a:solidFill>
              </a:rPr>
              <a:t>                                                                                        Volume.</a:t>
            </a:r>
          </a:p>
          <a:p>
            <a:endParaRPr lang="en-US" sz="2000" dirty="0">
              <a:solidFill>
                <a:schemeClr val="tx2">
                  <a:lumMod val="50000"/>
                </a:schemeClr>
              </a:solidFill>
            </a:endParaRPr>
          </a:p>
          <a:p>
            <a:r>
              <a:rPr lang="en-US" sz="2000" dirty="0">
                <a:solidFill>
                  <a:schemeClr val="tx2">
                    <a:lumMod val="50000"/>
                  </a:schemeClr>
                </a:solidFill>
              </a:rPr>
              <a:t>                                                                                     B. The Highest-performing Category</a:t>
            </a:r>
          </a:p>
          <a:p>
            <a:r>
              <a:rPr lang="en-US" sz="2000" dirty="0">
                <a:solidFill>
                  <a:schemeClr val="tx2">
                    <a:lumMod val="50000"/>
                  </a:schemeClr>
                </a:solidFill>
              </a:rPr>
              <a:t>                                                                                        is also a reflection of what the </a:t>
            </a:r>
          </a:p>
          <a:p>
            <a:r>
              <a:rPr lang="en-US" sz="2000" dirty="0">
                <a:solidFill>
                  <a:schemeClr val="tx2">
                    <a:lumMod val="50000"/>
                  </a:schemeClr>
                </a:solidFill>
              </a:rPr>
              <a:t>                                                                                        customers place the most value.                               </a:t>
            </a:r>
          </a:p>
        </p:txBody>
      </p:sp>
      <p:graphicFrame>
        <p:nvGraphicFramePr>
          <p:cNvPr id="5" name="Content Placeholder 14">
            <a:extLst>
              <a:ext uri="{FF2B5EF4-FFF2-40B4-BE49-F238E27FC236}">
                <a16:creationId xmlns:a16="http://schemas.microsoft.com/office/drawing/2014/main" id="{18276A88-3227-51D2-A2C5-45613D18AAAD}"/>
              </a:ext>
            </a:extLst>
          </p:cNvPr>
          <p:cNvGraphicFramePr>
            <a:graphicFrameLocks/>
          </p:cNvGraphicFramePr>
          <p:nvPr>
            <p:extLst>
              <p:ext uri="{D42A27DB-BD31-4B8C-83A1-F6EECF244321}">
                <p14:modId xmlns:p14="http://schemas.microsoft.com/office/powerpoint/2010/main" val="627540500"/>
              </p:ext>
            </p:extLst>
          </p:nvPr>
        </p:nvGraphicFramePr>
        <p:xfrm>
          <a:off x="46813" y="2424373"/>
          <a:ext cx="4813574" cy="3169606"/>
        </p:xfrm>
        <a:graphic>
          <a:graphicData uri="http://schemas.openxmlformats.org/drawingml/2006/chart">
            <c:chart xmlns:c="http://schemas.openxmlformats.org/drawingml/2006/chart" xmlns:r="http://schemas.openxmlformats.org/officeDocument/2006/relationships" r:id="rId4"/>
          </a:graphicData>
        </a:graphic>
      </p:graphicFrame>
      <p:cxnSp>
        <p:nvCxnSpPr>
          <p:cNvPr id="6" name="Straight Connector 5">
            <a:extLst>
              <a:ext uri="{FF2B5EF4-FFF2-40B4-BE49-F238E27FC236}">
                <a16:creationId xmlns:a16="http://schemas.microsoft.com/office/drawing/2014/main" id="{3FF424D8-1195-F484-0447-A319134AA22B}"/>
              </a:ext>
            </a:extLst>
          </p:cNvPr>
          <p:cNvCxnSpPr>
            <a:cxnSpLocks/>
          </p:cNvCxnSpPr>
          <p:nvPr/>
        </p:nvCxnSpPr>
        <p:spPr>
          <a:xfrm>
            <a:off x="393895" y="1201961"/>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1480A7D-6982-D9A4-7B91-E1969706E629}"/>
              </a:ext>
            </a:extLst>
          </p:cNvPr>
          <p:cNvCxnSpPr>
            <a:cxnSpLocks/>
          </p:cNvCxnSpPr>
          <p:nvPr/>
        </p:nvCxnSpPr>
        <p:spPr>
          <a:xfrm>
            <a:off x="393895" y="2013267"/>
            <a:ext cx="4472864"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5CAE418-81A0-7DE5-A33B-1259E41D711B}"/>
              </a:ext>
            </a:extLst>
          </p:cNvPr>
          <p:cNvCxnSpPr>
            <a:cxnSpLocks/>
          </p:cNvCxnSpPr>
          <p:nvPr/>
        </p:nvCxnSpPr>
        <p:spPr>
          <a:xfrm>
            <a:off x="7086600" y="2013267"/>
            <a:ext cx="3133165"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5121008-397A-115C-ECF5-C5542A2AB87F}"/>
              </a:ext>
            </a:extLst>
          </p:cNvPr>
          <p:cNvCxnSpPr>
            <a:cxnSpLocks/>
          </p:cNvCxnSpPr>
          <p:nvPr/>
        </p:nvCxnSpPr>
        <p:spPr>
          <a:xfrm>
            <a:off x="215626" y="6598714"/>
            <a:ext cx="1064959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90409"/>
      </p:ext>
    </p:extLst>
  </p:cSld>
  <p:clrMapOvr>
    <a:masterClrMapping/>
  </p:clrMapOvr>
  <p:transition spd="slow">
    <p:push dir="u"/>
    <p:sndAc>
      <p:stSnd>
        <p:snd r:embed="rId2" name="arrow.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36C09-16BA-4141-A705-C6B5B5A4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81776" y="0"/>
            <a:ext cx="9176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CE521D-42CE-4CD9-AFFE-37255AC0A6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460C2540-36DC-4C0A-A9C0-231ED365D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81776" cy="6858000"/>
          </a:xfrm>
          <a:prstGeom prst="rect">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CBA139-EF41-53C0-3642-9C38B2601C39}"/>
              </a:ext>
            </a:extLst>
          </p:cNvPr>
          <p:cNvSpPr>
            <a:spLocks noGrp="1"/>
          </p:cNvSpPr>
          <p:nvPr>
            <p:ph type="title"/>
          </p:nvPr>
        </p:nvSpPr>
        <p:spPr>
          <a:xfrm>
            <a:off x="104931" y="87498"/>
            <a:ext cx="11047751" cy="1441499"/>
          </a:xfrm>
        </p:spPr>
        <p:txBody>
          <a:bodyPr>
            <a:normAutofit/>
          </a:bodyPr>
          <a:lstStyle/>
          <a:p>
            <a:r>
              <a:rPr lang="en-US" dirty="0">
                <a:solidFill>
                  <a:schemeClr val="tx2">
                    <a:lumMod val="50000"/>
                  </a:schemeClr>
                </a:solidFill>
              </a:rPr>
              <a:t>THE CORRELATION BETWEEN THE INFLATION RATE AND THE SALES VOLUME</a:t>
            </a:r>
            <a:endParaRPr lang="en-US" dirty="0">
              <a:solidFill>
                <a:schemeClr val="accent1"/>
              </a:solidFill>
            </a:endParaRPr>
          </a:p>
        </p:txBody>
      </p:sp>
      <p:sp>
        <p:nvSpPr>
          <p:cNvPr id="3" name="Content Placeholder 2">
            <a:extLst>
              <a:ext uri="{FF2B5EF4-FFF2-40B4-BE49-F238E27FC236}">
                <a16:creationId xmlns:a16="http://schemas.microsoft.com/office/drawing/2014/main" id="{BE648D9C-27B2-B4E7-63CB-7F925AA0B16F}"/>
              </a:ext>
            </a:extLst>
          </p:cNvPr>
          <p:cNvSpPr>
            <a:spLocks noGrp="1"/>
          </p:cNvSpPr>
          <p:nvPr>
            <p:ph idx="1"/>
          </p:nvPr>
        </p:nvSpPr>
        <p:spPr>
          <a:xfrm>
            <a:off x="104930" y="1411945"/>
            <a:ext cx="11047751" cy="5358556"/>
          </a:xfrm>
        </p:spPr>
        <p:txBody>
          <a:bodyPr>
            <a:normAutofit/>
          </a:bodyPr>
          <a:lstStyle/>
          <a:p>
            <a:pPr marL="0" indent="0">
              <a:buNone/>
            </a:pPr>
            <a:endParaRPr lang="en-US" sz="2000" dirty="0"/>
          </a:p>
          <a:p>
            <a:pPr marL="0" indent="0">
              <a:buNone/>
            </a:pPr>
            <a:r>
              <a:rPr lang="en-US" sz="2000" dirty="0"/>
              <a:t>TABLE SHOWING THE IMPACT OF INFLATION                              KEY HIGHLIGHTS</a:t>
            </a:r>
          </a:p>
          <a:p>
            <a:pPr marL="0" indent="0">
              <a:buNone/>
            </a:pPr>
            <a:r>
              <a:rPr lang="en-US" sz="2000" dirty="0"/>
              <a:t>   ON SALES VOLUME</a:t>
            </a:r>
          </a:p>
          <a:p>
            <a:pPr marL="0" indent="0">
              <a:buNone/>
            </a:pPr>
            <a:r>
              <a:rPr lang="en-US" sz="2000" dirty="0"/>
              <a:t>                                                                                 A. These findings reveal the relationship</a:t>
            </a:r>
          </a:p>
          <a:p>
            <a:pPr marL="0" indent="0">
              <a:buNone/>
            </a:pPr>
            <a:r>
              <a:rPr lang="en-US" sz="2000" dirty="0"/>
              <a:t>                                                                                      between the sales volume and the </a:t>
            </a:r>
          </a:p>
          <a:p>
            <a:pPr marL="0" indent="0">
              <a:buNone/>
            </a:pPr>
            <a:r>
              <a:rPr lang="en-US" sz="2000" dirty="0"/>
              <a:t>                                                                                    inflation rate over time </a:t>
            </a:r>
          </a:p>
          <a:p>
            <a:pPr marL="0" indent="0">
              <a:buNone/>
            </a:pPr>
            <a:r>
              <a:rPr lang="en-US" sz="2000" dirty="0"/>
              <a:t>                                                                                 B. There are small marginal increases  </a:t>
            </a:r>
          </a:p>
          <a:p>
            <a:pPr marL="0" indent="0">
              <a:buNone/>
            </a:pPr>
            <a:r>
              <a:rPr lang="en-US" sz="2000" dirty="0"/>
              <a:t>                                                                                      which do not have significant effects</a:t>
            </a:r>
          </a:p>
          <a:p>
            <a:pPr marL="0" indent="0">
              <a:buNone/>
            </a:pPr>
            <a:r>
              <a:rPr lang="en-US" sz="2000" dirty="0"/>
              <a:t>                                                                                       on the sales volume and so it is safe  </a:t>
            </a:r>
          </a:p>
          <a:p>
            <a:pPr marL="0" indent="0">
              <a:buNone/>
            </a:pPr>
            <a:r>
              <a:rPr lang="en-US" sz="2000" dirty="0"/>
              <a:t>                                                                                      to conclude that the inflation rate </a:t>
            </a:r>
          </a:p>
          <a:p>
            <a:pPr marL="0" indent="0">
              <a:buNone/>
            </a:pPr>
            <a:r>
              <a:rPr lang="en-US" sz="2000" dirty="0"/>
              <a:t>                                                                                      does not influence the sales volume  </a:t>
            </a:r>
          </a:p>
          <a:p>
            <a:pPr marL="0" indent="0">
              <a:buNone/>
            </a:pPr>
            <a:r>
              <a:rPr lang="en-US" sz="2000" dirty="0"/>
              <a:t>                                                                                     the sales volume by any margin.</a:t>
            </a:r>
          </a:p>
          <a:p>
            <a:pPr marL="0" indent="0">
              <a:buNone/>
            </a:pPr>
            <a:r>
              <a:rPr lang="en-US" sz="2000" dirty="0"/>
              <a:t>                                                                                       </a:t>
            </a:r>
          </a:p>
        </p:txBody>
      </p:sp>
      <p:cxnSp>
        <p:nvCxnSpPr>
          <p:cNvPr id="4" name="Straight Connector 3">
            <a:extLst>
              <a:ext uri="{FF2B5EF4-FFF2-40B4-BE49-F238E27FC236}">
                <a16:creationId xmlns:a16="http://schemas.microsoft.com/office/drawing/2014/main" id="{A193F1B9-3A54-C3ED-05A1-07E41AC2C95B}"/>
              </a:ext>
            </a:extLst>
          </p:cNvPr>
          <p:cNvCxnSpPr>
            <a:cxnSpLocks/>
          </p:cNvCxnSpPr>
          <p:nvPr/>
        </p:nvCxnSpPr>
        <p:spPr>
          <a:xfrm>
            <a:off x="232530" y="1296091"/>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EE25D07-F4ED-27C4-F7E0-105126EDA3C7}"/>
              </a:ext>
            </a:extLst>
          </p:cNvPr>
          <p:cNvCxnSpPr>
            <a:cxnSpLocks/>
          </p:cNvCxnSpPr>
          <p:nvPr/>
        </p:nvCxnSpPr>
        <p:spPr>
          <a:xfrm>
            <a:off x="371483" y="6766710"/>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DBF4E86-DDE8-4F2E-5336-B37E3E08CA09}"/>
              </a:ext>
            </a:extLst>
          </p:cNvPr>
          <p:cNvCxnSpPr>
            <a:cxnSpLocks/>
          </p:cNvCxnSpPr>
          <p:nvPr/>
        </p:nvCxnSpPr>
        <p:spPr>
          <a:xfrm>
            <a:off x="232530" y="2564597"/>
            <a:ext cx="4940105"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8EED30-EC6B-31E8-CAFA-06EADC851847}"/>
              </a:ext>
            </a:extLst>
          </p:cNvPr>
          <p:cNvCxnSpPr>
            <a:cxnSpLocks/>
          </p:cNvCxnSpPr>
          <p:nvPr/>
        </p:nvCxnSpPr>
        <p:spPr>
          <a:xfrm>
            <a:off x="6333565" y="2152221"/>
            <a:ext cx="393998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9" name="Object 18">
            <a:extLst>
              <a:ext uri="{FF2B5EF4-FFF2-40B4-BE49-F238E27FC236}">
                <a16:creationId xmlns:a16="http://schemas.microsoft.com/office/drawing/2014/main" id="{77CE1E15-3E31-023E-0DB0-56964D134129}"/>
              </a:ext>
            </a:extLst>
          </p:cNvPr>
          <p:cNvGraphicFramePr>
            <a:graphicFrameLocks noChangeAspect="1"/>
          </p:cNvGraphicFramePr>
          <p:nvPr>
            <p:extLst>
              <p:ext uri="{D42A27DB-BD31-4B8C-83A1-F6EECF244321}">
                <p14:modId xmlns:p14="http://schemas.microsoft.com/office/powerpoint/2010/main" val="261965910"/>
              </p:ext>
            </p:extLst>
          </p:nvPr>
        </p:nvGraphicFramePr>
        <p:xfrm>
          <a:off x="232531" y="2988283"/>
          <a:ext cx="5119397" cy="3463817"/>
        </p:xfrm>
        <a:graphic>
          <a:graphicData uri="http://schemas.openxmlformats.org/presentationml/2006/ole">
            <mc:AlternateContent xmlns:mc="http://schemas.openxmlformats.org/markup-compatibility/2006">
              <mc:Choice xmlns:v="urn:schemas-microsoft-com:vml" Requires="v">
                <p:oleObj name="Worksheet" r:id="rId4" imgW="4362518" imgH="3247873" progId="Excel.Sheet.12">
                  <p:embed/>
                </p:oleObj>
              </mc:Choice>
              <mc:Fallback>
                <p:oleObj name="Worksheet" r:id="rId4" imgW="4362518" imgH="3247873" progId="Excel.Sheet.12">
                  <p:embed/>
                  <p:pic>
                    <p:nvPicPr>
                      <p:cNvPr id="0" name=""/>
                      <p:cNvPicPr/>
                      <p:nvPr/>
                    </p:nvPicPr>
                    <p:blipFill>
                      <a:blip r:embed="rId5"/>
                      <a:stretch>
                        <a:fillRect/>
                      </a:stretch>
                    </p:blipFill>
                    <p:spPr>
                      <a:xfrm>
                        <a:off x="232531" y="2988283"/>
                        <a:ext cx="5119397" cy="3463817"/>
                      </a:xfrm>
                      <a:prstGeom prst="rect">
                        <a:avLst/>
                      </a:prstGeom>
                    </p:spPr>
                  </p:pic>
                </p:oleObj>
              </mc:Fallback>
            </mc:AlternateContent>
          </a:graphicData>
        </a:graphic>
      </p:graphicFrame>
    </p:spTree>
    <p:extLst>
      <p:ext uri="{BB962C8B-B14F-4D97-AF65-F5344CB8AC3E}">
        <p14:creationId xmlns:p14="http://schemas.microsoft.com/office/powerpoint/2010/main" val="4158563068"/>
      </p:ext>
    </p:extLst>
  </p:cSld>
  <p:clrMapOvr>
    <a:masterClrMapping/>
  </p:clrMapOvr>
  <p:transition spd="slow">
    <p:push dir="u"/>
    <p:sndAc>
      <p:stSnd>
        <p:snd r:embed="rId2" name="arrow.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36C09-16BA-4141-A705-C6B5B5A4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81776" y="0"/>
            <a:ext cx="9176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CE521D-42CE-4CD9-AFFE-37255AC0A6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460C2540-36DC-4C0A-A9C0-231ED365D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81776" cy="6858000"/>
          </a:xfrm>
          <a:prstGeom prst="rect">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59638F-013C-823D-05C7-7A5825D43F94}"/>
              </a:ext>
            </a:extLst>
          </p:cNvPr>
          <p:cNvSpPr>
            <a:spLocks noGrp="1"/>
          </p:cNvSpPr>
          <p:nvPr>
            <p:ph type="title"/>
          </p:nvPr>
        </p:nvSpPr>
        <p:spPr>
          <a:xfrm>
            <a:off x="465169" y="87499"/>
            <a:ext cx="9613861" cy="1080938"/>
          </a:xfrm>
        </p:spPr>
        <p:txBody>
          <a:bodyPr>
            <a:normAutofit/>
          </a:bodyPr>
          <a:lstStyle/>
          <a:p>
            <a:r>
              <a:rPr lang="en-US" dirty="0">
                <a:solidFill>
                  <a:schemeClr val="tx2">
                    <a:lumMod val="50000"/>
                  </a:schemeClr>
                </a:solidFill>
              </a:rPr>
              <a:t>THE IMPACT OF PROMOTIONS ON THE SALE QUANTITY OF PRODUCTS</a:t>
            </a:r>
            <a:endParaRPr lang="en-US" dirty="0">
              <a:solidFill>
                <a:schemeClr val="accent1"/>
              </a:solidFill>
            </a:endParaRPr>
          </a:p>
        </p:txBody>
      </p:sp>
      <p:sp>
        <p:nvSpPr>
          <p:cNvPr id="3" name="Content Placeholder 2">
            <a:extLst>
              <a:ext uri="{FF2B5EF4-FFF2-40B4-BE49-F238E27FC236}">
                <a16:creationId xmlns:a16="http://schemas.microsoft.com/office/drawing/2014/main" id="{E0C31C78-BD62-5196-63AF-F38CFDF66C0A}"/>
              </a:ext>
            </a:extLst>
          </p:cNvPr>
          <p:cNvSpPr>
            <a:spLocks noGrp="1"/>
          </p:cNvSpPr>
          <p:nvPr>
            <p:ph idx="1"/>
          </p:nvPr>
        </p:nvSpPr>
        <p:spPr>
          <a:xfrm>
            <a:off x="107576" y="1255936"/>
            <a:ext cx="11166789" cy="5602064"/>
          </a:xfrm>
        </p:spPr>
        <p:txBody>
          <a:bodyPr>
            <a:normAutofit fontScale="92500" lnSpcReduction="20000"/>
          </a:bodyPr>
          <a:lstStyle/>
          <a:p>
            <a:endParaRPr lang="en-US" sz="2000" dirty="0"/>
          </a:p>
          <a:p>
            <a:r>
              <a:rPr lang="en-US" sz="2000" dirty="0"/>
              <a:t>TABLE SHOWING IMPACT OF PROMOTIONS ON                       KEY HIGHLIGHTS</a:t>
            </a:r>
          </a:p>
          <a:p>
            <a:pPr marL="0" indent="0">
              <a:buNone/>
            </a:pPr>
            <a:r>
              <a:rPr lang="en-US" sz="2000" dirty="0"/>
              <a:t>THE SALES QUANTITY                                                           </a:t>
            </a:r>
          </a:p>
          <a:p>
            <a:pPr marL="0" indent="0">
              <a:buNone/>
            </a:pPr>
            <a:r>
              <a:rPr lang="en-US" sz="2000" dirty="0"/>
              <a:t>                                                                                     A. The table is divided into two </a:t>
            </a:r>
          </a:p>
          <a:p>
            <a:pPr marL="0" indent="0">
              <a:buNone/>
            </a:pPr>
            <a:r>
              <a:rPr lang="en-US" sz="2000" dirty="0"/>
              <a:t>                                                                                     sections, those that sold </a:t>
            </a:r>
          </a:p>
          <a:p>
            <a:pPr marL="0" indent="0">
              <a:buNone/>
            </a:pPr>
            <a:r>
              <a:rPr lang="en-US" sz="2000" dirty="0"/>
              <a:t>                                                                                     without promotions and those </a:t>
            </a:r>
          </a:p>
          <a:p>
            <a:pPr marL="0" indent="0">
              <a:buNone/>
            </a:pPr>
            <a:r>
              <a:rPr lang="en-US" sz="2000" dirty="0"/>
              <a:t>                                                                                     that sold with and we observe </a:t>
            </a:r>
          </a:p>
          <a:p>
            <a:pPr marL="0" indent="0">
              <a:buNone/>
            </a:pPr>
            <a:r>
              <a:rPr lang="en-US" sz="2000" dirty="0"/>
              <a:t>                                                                                      leading the sales is “ Electronics”</a:t>
            </a:r>
          </a:p>
          <a:p>
            <a:pPr marL="0" indent="0">
              <a:buNone/>
            </a:pPr>
            <a:r>
              <a:rPr lang="en-US" sz="2000" dirty="0"/>
              <a:t>                                                                                      with “ Home Appliances” being the </a:t>
            </a:r>
          </a:p>
          <a:p>
            <a:pPr marL="0" indent="0">
              <a:buNone/>
            </a:pPr>
            <a:r>
              <a:rPr lang="en-US" sz="2000" dirty="0"/>
              <a:t>                                                                                       lowest.</a:t>
            </a:r>
          </a:p>
          <a:p>
            <a:pPr marL="0" indent="0">
              <a:buNone/>
            </a:pPr>
            <a:r>
              <a:rPr lang="en-US" sz="2000" dirty="0"/>
              <a:t>                                                                                     B. We can observe the opposite with </a:t>
            </a:r>
          </a:p>
          <a:p>
            <a:pPr marL="0" indent="0">
              <a:buNone/>
            </a:pPr>
            <a:r>
              <a:rPr lang="en-US" sz="2000" dirty="0"/>
              <a:t>                                                                                      “ Home appliances” being the highest </a:t>
            </a:r>
          </a:p>
          <a:p>
            <a:pPr marL="0" indent="0">
              <a:buNone/>
            </a:pPr>
            <a:r>
              <a:rPr lang="en-US" sz="2000" dirty="0"/>
              <a:t>                                                                                      when there are promotions, this would </a:t>
            </a:r>
          </a:p>
          <a:p>
            <a:pPr marL="0" indent="0">
              <a:buNone/>
            </a:pPr>
            <a:r>
              <a:rPr lang="en-US" sz="2000" dirty="0"/>
              <a:t>                                                                                      mean that there are some categories that </a:t>
            </a:r>
          </a:p>
          <a:p>
            <a:pPr marL="0" indent="0">
              <a:buNone/>
            </a:pPr>
            <a:r>
              <a:rPr lang="en-US" sz="2000" dirty="0"/>
              <a:t>                                                                                       are dependent on this to excel.</a:t>
            </a:r>
          </a:p>
          <a:p>
            <a:pPr marL="0" indent="0">
              <a:buNone/>
            </a:pPr>
            <a:r>
              <a:rPr lang="en-US" sz="2000" dirty="0"/>
              <a:t>                                                                                     </a:t>
            </a:r>
          </a:p>
          <a:p>
            <a:pPr marL="0" indent="0">
              <a:buNone/>
            </a:pPr>
            <a:r>
              <a:rPr lang="en-US" sz="2000" dirty="0"/>
              <a:t>                                                                                      </a:t>
            </a:r>
          </a:p>
        </p:txBody>
      </p:sp>
      <p:cxnSp>
        <p:nvCxnSpPr>
          <p:cNvPr id="4" name="Straight Connector 3">
            <a:extLst>
              <a:ext uri="{FF2B5EF4-FFF2-40B4-BE49-F238E27FC236}">
                <a16:creationId xmlns:a16="http://schemas.microsoft.com/office/drawing/2014/main" id="{7F53040D-3729-4439-8349-D9D24E73F100}"/>
              </a:ext>
            </a:extLst>
          </p:cNvPr>
          <p:cNvCxnSpPr>
            <a:cxnSpLocks/>
          </p:cNvCxnSpPr>
          <p:nvPr/>
        </p:nvCxnSpPr>
        <p:spPr>
          <a:xfrm>
            <a:off x="232530" y="1168437"/>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639179A-4A33-4A5C-40A8-98720000E387}"/>
              </a:ext>
            </a:extLst>
          </p:cNvPr>
          <p:cNvCxnSpPr>
            <a:cxnSpLocks/>
          </p:cNvCxnSpPr>
          <p:nvPr/>
        </p:nvCxnSpPr>
        <p:spPr>
          <a:xfrm>
            <a:off x="107576" y="2436943"/>
            <a:ext cx="5540189"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4BA6C8-85DF-415C-40D4-02F4A4EF1563}"/>
              </a:ext>
            </a:extLst>
          </p:cNvPr>
          <p:cNvCxnSpPr>
            <a:cxnSpLocks/>
          </p:cNvCxnSpPr>
          <p:nvPr/>
        </p:nvCxnSpPr>
        <p:spPr>
          <a:xfrm>
            <a:off x="6656294" y="2073872"/>
            <a:ext cx="3160059"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4CC262A-E2B6-E400-0E41-07B608286656}"/>
              </a:ext>
            </a:extLst>
          </p:cNvPr>
          <p:cNvGraphicFramePr>
            <a:graphicFrameLocks noGrp="1"/>
          </p:cNvGraphicFramePr>
          <p:nvPr>
            <p:extLst>
              <p:ext uri="{D42A27DB-BD31-4B8C-83A1-F6EECF244321}">
                <p14:modId xmlns:p14="http://schemas.microsoft.com/office/powerpoint/2010/main" val="3559922045"/>
              </p:ext>
            </p:extLst>
          </p:nvPr>
        </p:nvGraphicFramePr>
        <p:xfrm>
          <a:off x="107576" y="2649106"/>
          <a:ext cx="5230906" cy="3738240"/>
        </p:xfrm>
        <a:graphic>
          <a:graphicData uri="http://schemas.openxmlformats.org/drawingml/2006/table">
            <a:tbl>
              <a:tblPr/>
              <a:tblGrid>
                <a:gridCol w="1440849">
                  <a:extLst>
                    <a:ext uri="{9D8B030D-6E8A-4147-A177-3AD203B41FA5}">
                      <a16:colId xmlns:a16="http://schemas.microsoft.com/office/drawing/2014/main" val="29112232"/>
                    </a:ext>
                  </a:extLst>
                </a:gridCol>
                <a:gridCol w="2411854">
                  <a:extLst>
                    <a:ext uri="{9D8B030D-6E8A-4147-A177-3AD203B41FA5}">
                      <a16:colId xmlns:a16="http://schemas.microsoft.com/office/drawing/2014/main" val="2907091513"/>
                    </a:ext>
                  </a:extLst>
                </a:gridCol>
                <a:gridCol w="1378203">
                  <a:extLst>
                    <a:ext uri="{9D8B030D-6E8A-4147-A177-3AD203B41FA5}">
                      <a16:colId xmlns:a16="http://schemas.microsoft.com/office/drawing/2014/main" val="3612108762"/>
                    </a:ext>
                  </a:extLst>
                </a:gridCol>
              </a:tblGrid>
              <a:tr h="415360">
                <a:tc>
                  <a:txBody>
                    <a:bodyPr/>
                    <a:lstStyle/>
                    <a:p>
                      <a:pPr algn="l" fontAlgn="b"/>
                      <a:r>
                        <a:rPr lang="en-US" sz="1100" b="1" i="0" u="none" strike="noStrike">
                          <a:solidFill>
                            <a:srgbClr val="0C769E"/>
                          </a:solidFill>
                          <a:effectLst/>
                          <a:latin typeface="Aptos Narrow" panose="020B0004020202020204" pitchFamily="34" charset="0"/>
                        </a:rPr>
                        <a:t>productcategory</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r>
                        <a:rPr lang="en-US" sz="1100" b="1" i="0" u="none" strike="noStrike">
                          <a:solidFill>
                            <a:srgbClr val="0C769E"/>
                          </a:solidFill>
                          <a:effectLst/>
                          <a:latin typeface="Aptos Narrow" panose="020B0004020202020204" pitchFamily="34" charset="0"/>
                        </a:rPr>
                        <a:t>avg_sales_without_promotion</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r>
                        <a:rPr lang="en-US" sz="1100" b="1" i="0" u="none" strike="noStrike">
                          <a:solidFill>
                            <a:srgbClr val="0C769E"/>
                          </a:solidFill>
                          <a:effectLst/>
                          <a:latin typeface="Aptos Narrow" panose="020B0004020202020204" pitchFamily="34" charset="0"/>
                        </a:rPr>
                        <a:t>promotions</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756843559"/>
                  </a:ext>
                </a:extLst>
              </a:tr>
              <a:tr h="415360">
                <a:tc>
                  <a:txBody>
                    <a:bodyPr/>
                    <a:lstStyle/>
                    <a:p>
                      <a:pPr algn="l" fontAlgn="b"/>
                      <a:r>
                        <a:rPr lang="en-US" sz="1100" b="0" i="0" u="none" strike="noStrike">
                          <a:solidFill>
                            <a:srgbClr val="0C769E"/>
                          </a:solidFill>
                          <a:effectLst/>
                          <a:latin typeface="Aptos Narrow" panose="020B0004020202020204" pitchFamily="34" charset="0"/>
                        </a:rPr>
                        <a:t>Home_Appliances</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50</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tc>
                  <a:txBody>
                    <a:bodyPr/>
                    <a:lstStyle/>
                    <a:p>
                      <a:pPr algn="l" fontAlgn="b"/>
                      <a:r>
                        <a:rPr lang="en-US" sz="1100" b="0" i="0" u="none" strike="noStrike" dirty="0">
                          <a:solidFill>
                            <a:srgbClr val="0C769E"/>
                          </a:solidFill>
                          <a:effectLst/>
                          <a:latin typeface="Aptos Narrow" panose="020B0004020202020204" pitchFamily="34" charset="0"/>
                        </a:rPr>
                        <a:t>No</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extLst>
                  <a:ext uri="{0D108BD9-81ED-4DB2-BD59-A6C34878D82A}">
                    <a16:rowId xmlns:a16="http://schemas.microsoft.com/office/drawing/2014/main" val="1808617745"/>
                  </a:ext>
                </a:extLst>
              </a:tr>
              <a:tr h="415360">
                <a:tc>
                  <a:txBody>
                    <a:bodyPr/>
                    <a:lstStyle/>
                    <a:p>
                      <a:pPr algn="l" fontAlgn="b"/>
                      <a:r>
                        <a:rPr lang="en-US" sz="1100" b="0" i="0" u="none" strike="noStrike">
                          <a:solidFill>
                            <a:srgbClr val="0C769E"/>
                          </a:solidFill>
                          <a:effectLst/>
                          <a:latin typeface="Aptos Narrow" panose="020B0004020202020204" pitchFamily="34" charset="0"/>
                        </a:rPr>
                        <a:t>Electronics</a:t>
                      </a:r>
                    </a:p>
                  </a:txBody>
                  <a:tcPr marL="9525" marR="9525" marT="9525" marB="0" anchor="b">
                    <a:lnL>
                      <a:noFill/>
                    </a:lnL>
                    <a:lnR>
                      <a:noFill/>
                    </a:lnR>
                    <a:lnT>
                      <a:noFill/>
                    </a:lnT>
                    <a:lnB>
                      <a:noFill/>
                    </a:lnB>
                    <a:noFill/>
                  </a:tcPr>
                </a:tc>
                <a:tc>
                  <a:txBody>
                    <a:bodyPr/>
                    <a:lstStyle/>
                    <a:p>
                      <a:pPr algn="r" fontAlgn="b"/>
                      <a:r>
                        <a:rPr lang="en-US" sz="1100" b="0" i="0" u="none" strike="noStrike">
                          <a:solidFill>
                            <a:srgbClr val="0C769E"/>
                          </a:solidFill>
                          <a:effectLst/>
                          <a:latin typeface="Aptos Narrow" panose="020B0004020202020204" pitchFamily="34" charset="0"/>
                        </a:rPr>
                        <a:t>54</a:t>
                      </a:r>
                    </a:p>
                  </a:txBody>
                  <a:tcPr marL="9525" marR="9525" marT="9525" marB="0" anchor="b">
                    <a:lnL>
                      <a:noFill/>
                    </a:lnL>
                    <a:lnR>
                      <a:noFill/>
                    </a:lnR>
                    <a:lnT>
                      <a:noFill/>
                    </a:lnT>
                    <a:lnB>
                      <a:noFill/>
                    </a:lnB>
                    <a:noFill/>
                  </a:tcPr>
                </a:tc>
                <a:tc>
                  <a:txBody>
                    <a:bodyPr/>
                    <a:lstStyle/>
                    <a:p>
                      <a:pPr algn="l" fontAlgn="b"/>
                      <a:r>
                        <a:rPr lang="en-US" sz="1100" b="0" i="0" u="none" strike="noStrike">
                          <a:solidFill>
                            <a:srgbClr val="0C769E"/>
                          </a:solidFill>
                          <a:effectLst/>
                          <a:latin typeface="Aptos Narrow" panose="020B0004020202020204" pitchFamily="34" charset="0"/>
                        </a:rPr>
                        <a:t>No</a:t>
                      </a:r>
                    </a:p>
                  </a:txBody>
                  <a:tcPr marL="9525" marR="9525" marT="9525" marB="0" anchor="b">
                    <a:lnL>
                      <a:noFill/>
                    </a:lnL>
                    <a:lnR>
                      <a:noFill/>
                    </a:lnR>
                    <a:lnT>
                      <a:noFill/>
                    </a:lnT>
                    <a:lnB>
                      <a:noFill/>
                    </a:lnB>
                    <a:noFill/>
                  </a:tcPr>
                </a:tc>
                <a:extLst>
                  <a:ext uri="{0D108BD9-81ED-4DB2-BD59-A6C34878D82A}">
                    <a16:rowId xmlns:a16="http://schemas.microsoft.com/office/drawing/2014/main" val="2570840992"/>
                  </a:ext>
                </a:extLst>
              </a:tr>
              <a:tr h="415360">
                <a:tc>
                  <a:txBody>
                    <a:bodyPr/>
                    <a:lstStyle/>
                    <a:p>
                      <a:pPr algn="l" fontAlgn="b"/>
                      <a:r>
                        <a:rPr lang="en-US" sz="1100" b="0" i="0" u="none" strike="noStrike">
                          <a:solidFill>
                            <a:srgbClr val="0C769E"/>
                          </a:solidFill>
                          <a:effectLst/>
                          <a:latin typeface="Aptos Narrow" panose="020B0004020202020204" pitchFamily="34" charset="0"/>
                        </a:rPr>
                        <a:t>SmartPhones</a:t>
                      </a:r>
                    </a:p>
                  </a:txBody>
                  <a:tcPr marL="9525" marR="9525" marT="9525" marB="0" anchor="b">
                    <a:lnL>
                      <a:noFill/>
                    </a:lnL>
                    <a:lnR>
                      <a:noFill/>
                    </a:lnR>
                    <a:lnT>
                      <a:noFill/>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53</a:t>
                      </a:r>
                    </a:p>
                  </a:txBody>
                  <a:tcPr marL="9525" marR="9525" marT="9525" marB="0" anchor="b">
                    <a:lnL>
                      <a:noFill/>
                    </a:lnL>
                    <a:lnR>
                      <a:noFill/>
                    </a:lnR>
                    <a:lnT>
                      <a:noFill/>
                    </a:lnT>
                    <a:lnB>
                      <a:noFill/>
                    </a:lnB>
                    <a:solidFill>
                      <a:srgbClr val="CAEDFB"/>
                    </a:solidFill>
                  </a:tcPr>
                </a:tc>
                <a:tc>
                  <a:txBody>
                    <a:bodyPr/>
                    <a:lstStyle/>
                    <a:p>
                      <a:pPr algn="l" fontAlgn="b"/>
                      <a:r>
                        <a:rPr lang="en-US" sz="1100" b="0" i="0" u="none" strike="noStrike">
                          <a:solidFill>
                            <a:srgbClr val="0C769E"/>
                          </a:solidFill>
                          <a:effectLst/>
                          <a:latin typeface="Aptos Narrow" panose="020B0004020202020204" pitchFamily="34" charset="0"/>
                        </a:rPr>
                        <a:t>No</a:t>
                      </a:r>
                    </a:p>
                  </a:txBody>
                  <a:tcPr marL="9525" marR="9525" marT="9525" marB="0" anchor="b">
                    <a:lnL>
                      <a:noFill/>
                    </a:lnL>
                    <a:lnR>
                      <a:noFill/>
                    </a:lnR>
                    <a:lnT>
                      <a:noFill/>
                    </a:lnT>
                    <a:lnB>
                      <a:noFill/>
                    </a:lnB>
                    <a:solidFill>
                      <a:srgbClr val="CAEDFB"/>
                    </a:solidFill>
                  </a:tcPr>
                </a:tc>
                <a:extLst>
                  <a:ext uri="{0D108BD9-81ED-4DB2-BD59-A6C34878D82A}">
                    <a16:rowId xmlns:a16="http://schemas.microsoft.com/office/drawing/2014/main" val="1852913856"/>
                  </a:ext>
                </a:extLst>
              </a:tr>
              <a:tr h="415360">
                <a:tc>
                  <a:txBody>
                    <a:bodyPr/>
                    <a:lstStyle/>
                    <a:p>
                      <a:pPr algn="l" fontAlgn="b"/>
                      <a:r>
                        <a:rPr lang="en-US" sz="1100" b="0" i="0" u="none" strike="noStrike">
                          <a:solidFill>
                            <a:srgbClr val="0C769E"/>
                          </a:solidFill>
                          <a:effectLst/>
                          <a:latin typeface="Aptos Narrow" panose="020B0004020202020204" pitchFamily="34" charset="0"/>
                        </a:rPr>
                        <a:t>Laptops</a:t>
                      </a:r>
                    </a:p>
                  </a:txBody>
                  <a:tcPr marL="9525" marR="9525" marT="9525" marB="0" anchor="b">
                    <a:lnL>
                      <a:noFill/>
                    </a:lnL>
                    <a:lnR>
                      <a:noFill/>
                    </a:lnR>
                    <a:lnT>
                      <a:noFill/>
                    </a:lnT>
                    <a:lnB>
                      <a:noFill/>
                    </a:lnB>
                    <a:noFill/>
                  </a:tcPr>
                </a:tc>
                <a:tc>
                  <a:txBody>
                    <a:bodyPr/>
                    <a:lstStyle/>
                    <a:p>
                      <a:pPr algn="r" fontAlgn="b"/>
                      <a:r>
                        <a:rPr lang="en-US" sz="1100" b="0" i="0" u="none" strike="noStrike">
                          <a:solidFill>
                            <a:srgbClr val="0C769E"/>
                          </a:solidFill>
                          <a:effectLst/>
                          <a:latin typeface="Aptos Narrow" panose="020B0004020202020204" pitchFamily="34" charset="0"/>
                        </a:rPr>
                        <a:t>51</a:t>
                      </a:r>
                    </a:p>
                  </a:txBody>
                  <a:tcPr marL="9525" marR="9525" marT="9525" marB="0" anchor="b">
                    <a:lnL>
                      <a:noFill/>
                    </a:lnL>
                    <a:lnR>
                      <a:noFill/>
                    </a:lnR>
                    <a:lnT>
                      <a:noFill/>
                    </a:lnT>
                    <a:lnB>
                      <a:noFill/>
                    </a:lnB>
                    <a:noFill/>
                  </a:tcPr>
                </a:tc>
                <a:tc>
                  <a:txBody>
                    <a:bodyPr/>
                    <a:lstStyle/>
                    <a:p>
                      <a:pPr algn="l" fontAlgn="b"/>
                      <a:r>
                        <a:rPr lang="en-US" sz="1100" b="0" i="0" u="none" strike="noStrike">
                          <a:solidFill>
                            <a:srgbClr val="0C769E"/>
                          </a:solidFill>
                          <a:effectLst/>
                          <a:latin typeface="Aptos Narrow" panose="020B0004020202020204" pitchFamily="34" charset="0"/>
                        </a:rPr>
                        <a:t>No</a:t>
                      </a:r>
                    </a:p>
                  </a:txBody>
                  <a:tcPr marL="9525" marR="9525" marT="9525" marB="0" anchor="b">
                    <a:lnL>
                      <a:noFill/>
                    </a:lnL>
                    <a:lnR>
                      <a:noFill/>
                    </a:lnR>
                    <a:lnT>
                      <a:noFill/>
                    </a:lnT>
                    <a:lnB>
                      <a:noFill/>
                    </a:lnB>
                    <a:noFill/>
                  </a:tcPr>
                </a:tc>
                <a:extLst>
                  <a:ext uri="{0D108BD9-81ED-4DB2-BD59-A6C34878D82A}">
                    <a16:rowId xmlns:a16="http://schemas.microsoft.com/office/drawing/2014/main" val="1354954093"/>
                  </a:ext>
                </a:extLst>
              </a:tr>
              <a:tr h="415360">
                <a:tc>
                  <a:txBody>
                    <a:bodyPr/>
                    <a:lstStyle/>
                    <a:p>
                      <a:pPr algn="l" fontAlgn="b"/>
                      <a:r>
                        <a:rPr lang="en-US" sz="1100" b="0" i="0" u="none" strike="noStrike">
                          <a:solidFill>
                            <a:srgbClr val="0C769E"/>
                          </a:solidFill>
                          <a:effectLst/>
                          <a:latin typeface="Aptos Narrow" panose="020B0004020202020204" pitchFamily="34" charset="0"/>
                        </a:rPr>
                        <a:t>Home_Appliances</a:t>
                      </a:r>
                    </a:p>
                  </a:txBody>
                  <a:tcPr marL="9525" marR="9525" marT="9525" marB="0" anchor="b">
                    <a:lnL>
                      <a:noFill/>
                    </a:lnL>
                    <a:lnR>
                      <a:noFill/>
                    </a:lnR>
                    <a:lnT>
                      <a:noFill/>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54</a:t>
                      </a:r>
                    </a:p>
                  </a:txBody>
                  <a:tcPr marL="9525" marR="9525" marT="9525" marB="0" anchor="b">
                    <a:lnL>
                      <a:noFill/>
                    </a:lnL>
                    <a:lnR>
                      <a:noFill/>
                    </a:lnR>
                    <a:lnT>
                      <a:noFill/>
                    </a:lnT>
                    <a:lnB>
                      <a:noFill/>
                    </a:lnB>
                    <a:solidFill>
                      <a:srgbClr val="CAEDFB"/>
                    </a:solidFill>
                  </a:tcPr>
                </a:tc>
                <a:tc>
                  <a:txBody>
                    <a:bodyPr/>
                    <a:lstStyle/>
                    <a:p>
                      <a:pPr algn="l" fontAlgn="b"/>
                      <a:r>
                        <a:rPr lang="en-US" sz="1100" b="0" i="0" u="none" strike="noStrike">
                          <a:solidFill>
                            <a:srgbClr val="0C769E"/>
                          </a:solidFill>
                          <a:effectLst/>
                          <a:latin typeface="Aptos Narrow" panose="020B0004020202020204" pitchFamily="34" charset="0"/>
                        </a:rPr>
                        <a:t>Yes</a:t>
                      </a:r>
                    </a:p>
                  </a:txBody>
                  <a:tcPr marL="9525" marR="9525" marT="9525" marB="0" anchor="b">
                    <a:lnL>
                      <a:noFill/>
                    </a:lnL>
                    <a:lnR>
                      <a:noFill/>
                    </a:lnR>
                    <a:lnT>
                      <a:noFill/>
                    </a:lnT>
                    <a:lnB>
                      <a:noFill/>
                    </a:lnB>
                    <a:solidFill>
                      <a:srgbClr val="CAEDFB"/>
                    </a:solidFill>
                  </a:tcPr>
                </a:tc>
                <a:extLst>
                  <a:ext uri="{0D108BD9-81ED-4DB2-BD59-A6C34878D82A}">
                    <a16:rowId xmlns:a16="http://schemas.microsoft.com/office/drawing/2014/main" val="1108628892"/>
                  </a:ext>
                </a:extLst>
              </a:tr>
              <a:tr h="415360">
                <a:tc>
                  <a:txBody>
                    <a:bodyPr/>
                    <a:lstStyle/>
                    <a:p>
                      <a:pPr algn="l" fontAlgn="b"/>
                      <a:r>
                        <a:rPr lang="en-US" sz="1100" b="0" i="0" u="none" strike="noStrike">
                          <a:solidFill>
                            <a:srgbClr val="0C769E"/>
                          </a:solidFill>
                          <a:effectLst/>
                          <a:latin typeface="Aptos Narrow" panose="020B0004020202020204" pitchFamily="34" charset="0"/>
                        </a:rPr>
                        <a:t>Electronics</a:t>
                      </a:r>
                    </a:p>
                  </a:txBody>
                  <a:tcPr marL="9525" marR="9525" marT="9525" marB="0" anchor="b">
                    <a:lnL>
                      <a:noFill/>
                    </a:lnL>
                    <a:lnR>
                      <a:noFill/>
                    </a:lnR>
                    <a:lnT>
                      <a:noFill/>
                    </a:lnT>
                    <a:lnB>
                      <a:noFill/>
                    </a:lnB>
                    <a:noFill/>
                  </a:tcPr>
                </a:tc>
                <a:tc>
                  <a:txBody>
                    <a:bodyPr/>
                    <a:lstStyle/>
                    <a:p>
                      <a:pPr algn="r" fontAlgn="b"/>
                      <a:r>
                        <a:rPr lang="en-US" sz="1100" b="0" i="0" u="none" strike="noStrike">
                          <a:solidFill>
                            <a:srgbClr val="0C769E"/>
                          </a:solidFill>
                          <a:effectLst/>
                          <a:latin typeface="Aptos Narrow" panose="020B0004020202020204" pitchFamily="34" charset="0"/>
                        </a:rPr>
                        <a:t>52</a:t>
                      </a:r>
                    </a:p>
                  </a:txBody>
                  <a:tcPr marL="9525" marR="9525" marT="9525" marB="0" anchor="b">
                    <a:lnL>
                      <a:noFill/>
                    </a:lnL>
                    <a:lnR>
                      <a:noFill/>
                    </a:lnR>
                    <a:lnT>
                      <a:noFill/>
                    </a:lnT>
                    <a:lnB>
                      <a:noFill/>
                    </a:lnB>
                    <a:noFill/>
                  </a:tcPr>
                </a:tc>
                <a:tc>
                  <a:txBody>
                    <a:bodyPr/>
                    <a:lstStyle/>
                    <a:p>
                      <a:pPr algn="l" fontAlgn="b"/>
                      <a:r>
                        <a:rPr lang="en-US" sz="1100" b="0" i="0" u="none" strike="noStrike">
                          <a:solidFill>
                            <a:srgbClr val="0C769E"/>
                          </a:solidFill>
                          <a:effectLst/>
                          <a:latin typeface="Aptos Narrow" panose="020B0004020202020204" pitchFamily="34" charset="0"/>
                        </a:rPr>
                        <a:t>Yes</a:t>
                      </a:r>
                    </a:p>
                  </a:txBody>
                  <a:tcPr marL="9525" marR="9525" marT="9525" marB="0" anchor="b">
                    <a:lnL>
                      <a:noFill/>
                    </a:lnL>
                    <a:lnR>
                      <a:noFill/>
                    </a:lnR>
                    <a:lnT>
                      <a:noFill/>
                    </a:lnT>
                    <a:lnB>
                      <a:noFill/>
                    </a:lnB>
                    <a:noFill/>
                  </a:tcPr>
                </a:tc>
                <a:extLst>
                  <a:ext uri="{0D108BD9-81ED-4DB2-BD59-A6C34878D82A}">
                    <a16:rowId xmlns:a16="http://schemas.microsoft.com/office/drawing/2014/main" val="3087831532"/>
                  </a:ext>
                </a:extLst>
              </a:tr>
              <a:tr h="415360">
                <a:tc>
                  <a:txBody>
                    <a:bodyPr/>
                    <a:lstStyle/>
                    <a:p>
                      <a:pPr algn="l" fontAlgn="b"/>
                      <a:r>
                        <a:rPr lang="en-US" sz="1100" b="0" i="0" u="none" strike="noStrike">
                          <a:solidFill>
                            <a:srgbClr val="0C769E"/>
                          </a:solidFill>
                          <a:effectLst/>
                          <a:latin typeface="Aptos Narrow" panose="020B0004020202020204" pitchFamily="34" charset="0"/>
                        </a:rPr>
                        <a:t>SmartPhones</a:t>
                      </a:r>
                    </a:p>
                  </a:txBody>
                  <a:tcPr marL="9525" marR="9525" marT="9525" marB="0" anchor="b">
                    <a:lnL>
                      <a:noFill/>
                    </a:lnL>
                    <a:lnR>
                      <a:noFill/>
                    </a:lnR>
                    <a:lnT>
                      <a:noFill/>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49</a:t>
                      </a:r>
                    </a:p>
                  </a:txBody>
                  <a:tcPr marL="9525" marR="9525" marT="9525" marB="0" anchor="b">
                    <a:lnL>
                      <a:noFill/>
                    </a:lnL>
                    <a:lnR>
                      <a:noFill/>
                    </a:lnR>
                    <a:lnT>
                      <a:noFill/>
                    </a:lnT>
                    <a:lnB>
                      <a:noFill/>
                    </a:lnB>
                    <a:solidFill>
                      <a:srgbClr val="CAEDFB"/>
                    </a:solidFill>
                  </a:tcPr>
                </a:tc>
                <a:tc>
                  <a:txBody>
                    <a:bodyPr/>
                    <a:lstStyle/>
                    <a:p>
                      <a:pPr algn="l" fontAlgn="b"/>
                      <a:r>
                        <a:rPr lang="en-US" sz="1100" b="0" i="0" u="none" strike="noStrike">
                          <a:solidFill>
                            <a:srgbClr val="0C769E"/>
                          </a:solidFill>
                          <a:effectLst/>
                          <a:latin typeface="Aptos Narrow" panose="020B0004020202020204" pitchFamily="34" charset="0"/>
                        </a:rPr>
                        <a:t>Yes</a:t>
                      </a:r>
                    </a:p>
                  </a:txBody>
                  <a:tcPr marL="9525" marR="9525" marT="9525" marB="0" anchor="b">
                    <a:lnL>
                      <a:noFill/>
                    </a:lnL>
                    <a:lnR>
                      <a:noFill/>
                    </a:lnR>
                    <a:lnT>
                      <a:noFill/>
                    </a:lnT>
                    <a:lnB>
                      <a:noFill/>
                    </a:lnB>
                    <a:solidFill>
                      <a:srgbClr val="CAEDFB"/>
                    </a:solidFill>
                  </a:tcPr>
                </a:tc>
                <a:extLst>
                  <a:ext uri="{0D108BD9-81ED-4DB2-BD59-A6C34878D82A}">
                    <a16:rowId xmlns:a16="http://schemas.microsoft.com/office/drawing/2014/main" val="673901338"/>
                  </a:ext>
                </a:extLst>
              </a:tr>
              <a:tr h="415360">
                <a:tc>
                  <a:txBody>
                    <a:bodyPr/>
                    <a:lstStyle/>
                    <a:p>
                      <a:pPr algn="l" fontAlgn="b"/>
                      <a:r>
                        <a:rPr lang="en-US" sz="1100" b="0" i="0" u="none" strike="noStrike">
                          <a:solidFill>
                            <a:srgbClr val="0C769E"/>
                          </a:solidFill>
                          <a:effectLst/>
                          <a:latin typeface="Aptos Narrow" panose="020B0004020202020204" pitchFamily="34" charset="0"/>
                        </a:rPr>
                        <a:t>Laptops</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tc>
                  <a:txBody>
                    <a:bodyPr/>
                    <a:lstStyle/>
                    <a:p>
                      <a:pPr algn="r" fontAlgn="b"/>
                      <a:r>
                        <a:rPr lang="en-US" sz="1100" b="0" i="0" u="none" strike="noStrike">
                          <a:solidFill>
                            <a:srgbClr val="0C769E"/>
                          </a:solidFill>
                          <a:effectLst/>
                          <a:latin typeface="Aptos Narrow" panose="020B0004020202020204" pitchFamily="34" charset="0"/>
                        </a:rPr>
                        <a:t>50</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tc>
                  <a:txBody>
                    <a:bodyPr/>
                    <a:lstStyle/>
                    <a:p>
                      <a:pPr algn="l" fontAlgn="b"/>
                      <a:r>
                        <a:rPr lang="en-US" sz="1100" b="0" i="0" u="none" strike="noStrike" dirty="0">
                          <a:solidFill>
                            <a:srgbClr val="0C769E"/>
                          </a:solidFill>
                          <a:effectLst/>
                          <a:latin typeface="Aptos Narrow" panose="020B0004020202020204" pitchFamily="34" charset="0"/>
                        </a:rPr>
                        <a:t>Yes</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162179170"/>
                  </a:ext>
                </a:extLst>
              </a:tr>
            </a:tbl>
          </a:graphicData>
        </a:graphic>
      </p:graphicFrame>
      <p:cxnSp>
        <p:nvCxnSpPr>
          <p:cNvPr id="15" name="Straight Connector 14">
            <a:extLst>
              <a:ext uri="{FF2B5EF4-FFF2-40B4-BE49-F238E27FC236}">
                <a16:creationId xmlns:a16="http://schemas.microsoft.com/office/drawing/2014/main" id="{CCF9FFEE-88D0-7E8F-F9E6-6FD5AD80BF84}"/>
              </a:ext>
            </a:extLst>
          </p:cNvPr>
          <p:cNvCxnSpPr>
            <a:cxnSpLocks/>
          </p:cNvCxnSpPr>
          <p:nvPr/>
        </p:nvCxnSpPr>
        <p:spPr>
          <a:xfrm>
            <a:off x="107576" y="6740001"/>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262653"/>
      </p:ext>
    </p:extLst>
  </p:cSld>
  <p:clrMapOvr>
    <a:masterClrMapping/>
  </p:clrMapOvr>
  <p:transition spd="slow">
    <p:push dir="u"/>
    <p:sndAc>
      <p:stSnd>
        <p:snd r:embed="rId3" name="arrow.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36C09-16BA-4141-A705-C6B5B5A4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81776" y="0"/>
            <a:ext cx="9176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CE521D-42CE-4CD9-AFFE-37255AC0A6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460C2540-36DC-4C0A-A9C0-231ED365D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81776" cy="6858000"/>
          </a:xfrm>
          <a:prstGeom prst="rect">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E3FC6C-2637-EE72-13E3-3AF8DF3A560A}"/>
              </a:ext>
            </a:extLst>
          </p:cNvPr>
          <p:cNvSpPr>
            <a:spLocks noGrp="1"/>
          </p:cNvSpPr>
          <p:nvPr>
            <p:ph type="title"/>
          </p:nvPr>
        </p:nvSpPr>
        <p:spPr>
          <a:xfrm>
            <a:off x="0" y="27086"/>
            <a:ext cx="11274365" cy="1102467"/>
          </a:xfrm>
        </p:spPr>
        <p:txBody>
          <a:bodyPr>
            <a:normAutofit/>
          </a:bodyPr>
          <a:lstStyle/>
          <a:p>
            <a:r>
              <a:rPr lang="en-US" dirty="0">
                <a:solidFill>
                  <a:schemeClr val="tx2">
                    <a:lumMod val="50000"/>
                  </a:schemeClr>
                </a:solidFill>
              </a:rPr>
              <a:t>THE CORRELATION BETWEEN THE INFLATION RATE AND THE SALES VOLUME</a:t>
            </a:r>
            <a:endParaRPr lang="en-US" dirty="0">
              <a:solidFill>
                <a:schemeClr val="accent1"/>
              </a:solidFill>
            </a:endParaRPr>
          </a:p>
        </p:txBody>
      </p:sp>
      <p:sp>
        <p:nvSpPr>
          <p:cNvPr id="3" name="Content Placeholder 2">
            <a:extLst>
              <a:ext uri="{FF2B5EF4-FFF2-40B4-BE49-F238E27FC236}">
                <a16:creationId xmlns:a16="http://schemas.microsoft.com/office/drawing/2014/main" id="{C52FF164-4C60-7FBF-0719-8625010EBD10}"/>
              </a:ext>
            </a:extLst>
          </p:cNvPr>
          <p:cNvSpPr>
            <a:spLocks noGrp="1"/>
          </p:cNvSpPr>
          <p:nvPr>
            <p:ph idx="1"/>
          </p:nvPr>
        </p:nvSpPr>
        <p:spPr>
          <a:xfrm>
            <a:off x="14822" y="1358346"/>
            <a:ext cx="11274365" cy="5674273"/>
          </a:xfrm>
        </p:spPr>
        <p:txBody>
          <a:bodyPr>
            <a:normAutofit lnSpcReduction="10000"/>
          </a:bodyPr>
          <a:lstStyle/>
          <a:p>
            <a:pPr marL="0" indent="0">
              <a:buNone/>
            </a:pPr>
            <a:endParaRPr lang="en-US" sz="2000" dirty="0"/>
          </a:p>
          <a:p>
            <a:pPr marL="0" indent="0">
              <a:buNone/>
            </a:pPr>
            <a:r>
              <a:rPr lang="en-US" sz="2000" dirty="0"/>
              <a:t>TABLE SHOWING SEASONAL FACTORS                                KEY HIGHLIGHTS </a:t>
            </a:r>
          </a:p>
          <a:p>
            <a:pPr marL="0" indent="0">
              <a:buNone/>
            </a:pPr>
            <a:r>
              <a:rPr lang="en-US" sz="2000" dirty="0"/>
              <a:t>VERSUS PRODUCT CATEGORIES</a:t>
            </a:r>
          </a:p>
          <a:p>
            <a:pPr marL="0" indent="0">
              <a:buNone/>
            </a:pPr>
            <a:r>
              <a:rPr lang="en-US" sz="2000" dirty="0"/>
              <a:t>                                                                           A. Seasonal Factors do not exactly hold great</a:t>
            </a:r>
          </a:p>
          <a:p>
            <a:pPr marL="0" indent="0">
              <a:buNone/>
            </a:pPr>
            <a:r>
              <a:rPr lang="en-US" sz="2000" dirty="0"/>
              <a:t>                                                                            influence on all product categories. We can </a:t>
            </a:r>
          </a:p>
          <a:p>
            <a:pPr marL="0" indent="0">
              <a:buNone/>
            </a:pPr>
            <a:r>
              <a:rPr lang="en-US" sz="2000" dirty="0"/>
              <a:t>                                                                           observe the numerical values of the factors </a:t>
            </a:r>
          </a:p>
          <a:p>
            <a:pPr marL="0" indent="0">
              <a:buNone/>
            </a:pPr>
            <a:r>
              <a:rPr lang="en-US" sz="2000" dirty="0"/>
              <a:t>                                                                           are not in great amounts</a:t>
            </a:r>
          </a:p>
          <a:p>
            <a:pPr marL="0" indent="0">
              <a:buNone/>
            </a:pPr>
            <a:r>
              <a:rPr lang="en-US" sz="2000" dirty="0"/>
              <a:t>                                                                           B. A rise in Seasonal factors does not </a:t>
            </a:r>
          </a:p>
          <a:p>
            <a:pPr marL="0" indent="0">
              <a:buNone/>
            </a:pPr>
            <a:r>
              <a:rPr lang="en-US" sz="2000" dirty="0"/>
              <a:t>                                                                           necessarily mean high total sales, a good </a:t>
            </a:r>
          </a:p>
          <a:p>
            <a:pPr marL="0" indent="0">
              <a:buNone/>
            </a:pPr>
            <a:r>
              <a:rPr lang="en-US" sz="2000" dirty="0"/>
              <a:t>                                                                           example being “Electronics” which had the </a:t>
            </a:r>
          </a:p>
          <a:p>
            <a:pPr marL="0" indent="0">
              <a:buNone/>
            </a:pPr>
            <a:r>
              <a:rPr lang="en-US" sz="2000" dirty="0"/>
              <a:t>                                                                           lowest seasonal factor but the highest sale</a:t>
            </a:r>
          </a:p>
          <a:p>
            <a:pPr marL="0" indent="0">
              <a:buNone/>
            </a:pPr>
            <a:r>
              <a:rPr lang="en-US" sz="2000" dirty="0"/>
              <a:t>                                                                           which would mean customers would still buy it</a:t>
            </a:r>
          </a:p>
          <a:p>
            <a:pPr marL="0" indent="0">
              <a:buNone/>
            </a:pPr>
            <a:r>
              <a:rPr lang="en-US" sz="2000" dirty="0"/>
              <a:t>                                                                            regardless of the event or season.</a:t>
            </a:r>
          </a:p>
          <a:p>
            <a:pPr marL="0" indent="0">
              <a:buNone/>
            </a:pPr>
            <a:r>
              <a:rPr lang="en-US" sz="2000" dirty="0"/>
              <a:t>                                                                    </a:t>
            </a:r>
          </a:p>
          <a:p>
            <a:pPr marL="0" indent="0">
              <a:buNone/>
            </a:pPr>
            <a:r>
              <a:rPr lang="en-US" sz="2000" dirty="0"/>
              <a:t>                                                                            </a:t>
            </a:r>
          </a:p>
        </p:txBody>
      </p:sp>
      <p:cxnSp>
        <p:nvCxnSpPr>
          <p:cNvPr id="4" name="Straight Connector 3">
            <a:extLst>
              <a:ext uri="{FF2B5EF4-FFF2-40B4-BE49-F238E27FC236}">
                <a16:creationId xmlns:a16="http://schemas.microsoft.com/office/drawing/2014/main" id="{3A799A7A-E4EA-179B-3993-45C2486A1687}"/>
              </a:ext>
            </a:extLst>
          </p:cNvPr>
          <p:cNvCxnSpPr>
            <a:cxnSpLocks/>
          </p:cNvCxnSpPr>
          <p:nvPr/>
        </p:nvCxnSpPr>
        <p:spPr>
          <a:xfrm>
            <a:off x="232530" y="1168437"/>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028A80C-409F-BD8E-530E-27CB75BC7E3D}"/>
              </a:ext>
            </a:extLst>
          </p:cNvPr>
          <p:cNvCxnSpPr>
            <a:cxnSpLocks/>
          </p:cNvCxnSpPr>
          <p:nvPr/>
        </p:nvCxnSpPr>
        <p:spPr>
          <a:xfrm>
            <a:off x="14822" y="2571413"/>
            <a:ext cx="4395813"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F8882E-8E7C-9126-0790-C7F073DD8EDB}"/>
              </a:ext>
            </a:extLst>
          </p:cNvPr>
          <p:cNvCxnSpPr>
            <a:cxnSpLocks/>
          </p:cNvCxnSpPr>
          <p:nvPr/>
        </p:nvCxnSpPr>
        <p:spPr>
          <a:xfrm>
            <a:off x="5849471" y="2132143"/>
            <a:ext cx="350968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26508670-859B-6CB5-2270-328069F5C276}"/>
              </a:ext>
            </a:extLst>
          </p:cNvPr>
          <p:cNvGraphicFramePr>
            <a:graphicFrameLocks noGrp="1"/>
          </p:cNvGraphicFramePr>
          <p:nvPr>
            <p:extLst>
              <p:ext uri="{D42A27DB-BD31-4B8C-83A1-F6EECF244321}">
                <p14:modId xmlns:p14="http://schemas.microsoft.com/office/powerpoint/2010/main" val="4087401626"/>
              </p:ext>
            </p:extLst>
          </p:nvPr>
        </p:nvGraphicFramePr>
        <p:xfrm>
          <a:off x="14822" y="2777988"/>
          <a:ext cx="4395813" cy="3578080"/>
        </p:xfrm>
        <a:graphic>
          <a:graphicData uri="http://schemas.openxmlformats.org/drawingml/2006/table">
            <a:tbl>
              <a:tblPr/>
              <a:tblGrid>
                <a:gridCol w="1528978">
                  <a:extLst>
                    <a:ext uri="{9D8B030D-6E8A-4147-A177-3AD203B41FA5}">
                      <a16:colId xmlns:a16="http://schemas.microsoft.com/office/drawing/2014/main" val="3667008899"/>
                    </a:ext>
                  </a:extLst>
                </a:gridCol>
                <a:gridCol w="1729986">
                  <a:extLst>
                    <a:ext uri="{9D8B030D-6E8A-4147-A177-3AD203B41FA5}">
                      <a16:colId xmlns:a16="http://schemas.microsoft.com/office/drawing/2014/main" val="2414726714"/>
                    </a:ext>
                  </a:extLst>
                </a:gridCol>
                <a:gridCol w="1136849">
                  <a:extLst>
                    <a:ext uri="{9D8B030D-6E8A-4147-A177-3AD203B41FA5}">
                      <a16:colId xmlns:a16="http://schemas.microsoft.com/office/drawing/2014/main" val="3457709841"/>
                    </a:ext>
                  </a:extLst>
                </a:gridCol>
              </a:tblGrid>
              <a:tr h="715616">
                <a:tc>
                  <a:txBody>
                    <a:bodyPr/>
                    <a:lstStyle/>
                    <a:p>
                      <a:pPr algn="l" fontAlgn="b"/>
                      <a:r>
                        <a:rPr lang="en-US" sz="1100" b="1" i="0" u="none" strike="noStrike">
                          <a:solidFill>
                            <a:srgbClr val="0C769E"/>
                          </a:solidFill>
                          <a:effectLst/>
                          <a:latin typeface="Aptos Narrow" panose="020B0004020202020204" pitchFamily="34" charset="0"/>
                        </a:rPr>
                        <a:t>productcategory</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r>
                        <a:rPr lang="en-US" sz="1100" b="1" i="0" u="none" strike="noStrike">
                          <a:solidFill>
                            <a:srgbClr val="0C769E"/>
                          </a:solidFill>
                          <a:effectLst/>
                          <a:latin typeface="Aptos Narrow" panose="020B0004020202020204" pitchFamily="34" charset="0"/>
                        </a:rPr>
                        <a:t>average_seasonal_factor</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l" fontAlgn="b"/>
                      <a:r>
                        <a:rPr lang="en-US" sz="1100" b="1" i="0" u="none" strike="noStrike">
                          <a:solidFill>
                            <a:srgbClr val="0C769E"/>
                          </a:solidFill>
                          <a:effectLst/>
                          <a:latin typeface="Aptos Narrow" panose="020B0004020202020204" pitchFamily="34" charset="0"/>
                        </a:rPr>
                        <a:t>total_sales</a:t>
                      </a:r>
                    </a:p>
                  </a:txBody>
                  <a:tcPr marL="9525" marR="9525" marT="9525" marB="0" anchor="b">
                    <a:lnL>
                      <a:noFill/>
                    </a:lnL>
                    <a:lnR>
                      <a:noFill/>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90720"/>
                  </a:ext>
                </a:extLst>
              </a:tr>
              <a:tr h="715616">
                <a:tc>
                  <a:txBody>
                    <a:bodyPr/>
                    <a:lstStyle/>
                    <a:p>
                      <a:pPr algn="l" fontAlgn="b"/>
                      <a:r>
                        <a:rPr lang="en-US" sz="1100" b="0" i="0" u="none" strike="noStrike">
                          <a:solidFill>
                            <a:srgbClr val="0C769E"/>
                          </a:solidFill>
                          <a:effectLst/>
                          <a:latin typeface="Aptos Narrow" panose="020B0004020202020204" pitchFamily="34" charset="0"/>
                        </a:rPr>
                        <a:t>Electronics</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0.9983</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44935</a:t>
                      </a:r>
                    </a:p>
                  </a:txBody>
                  <a:tcPr marL="9525" marR="9525" marT="9525" marB="0" anchor="b">
                    <a:lnL>
                      <a:noFill/>
                    </a:lnL>
                    <a:lnR>
                      <a:noFill/>
                    </a:lnR>
                    <a:lnT w="6350" cap="flat" cmpd="sng" algn="ctr">
                      <a:solidFill>
                        <a:srgbClr val="0F9ED5"/>
                      </a:solidFill>
                      <a:prstDash val="solid"/>
                      <a:round/>
                      <a:headEnd type="none" w="med" len="med"/>
                      <a:tailEnd type="none" w="med" len="med"/>
                    </a:lnT>
                    <a:lnB>
                      <a:noFill/>
                    </a:lnB>
                    <a:solidFill>
                      <a:srgbClr val="CAEDFB"/>
                    </a:solidFill>
                  </a:tcPr>
                </a:tc>
                <a:extLst>
                  <a:ext uri="{0D108BD9-81ED-4DB2-BD59-A6C34878D82A}">
                    <a16:rowId xmlns:a16="http://schemas.microsoft.com/office/drawing/2014/main" val="3712215159"/>
                  </a:ext>
                </a:extLst>
              </a:tr>
              <a:tr h="715616">
                <a:tc>
                  <a:txBody>
                    <a:bodyPr/>
                    <a:lstStyle/>
                    <a:p>
                      <a:pPr algn="l" fontAlgn="b"/>
                      <a:r>
                        <a:rPr lang="en-US" sz="1100" b="0" i="0" u="none" strike="noStrike">
                          <a:solidFill>
                            <a:srgbClr val="0C769E"/>
                          </a:solidFill>
                          <a:effectLst/>
                          <a:latin typeface="Aptos Narrow" panose="020B0004020202020204" pitchFamily="34" charset="0"/>
                        </a:rPr>
                        <a:t>SmartPhones</a:t>
                      </a:r>
                    </a:p>
                  </a:txBody>
                  <a:tcPr marL="9525" marR="9525" marT="9525" marB="0" anchor="b">
                    <a:lnL>
                      <a:noFill/>
                    </a:lnL>
                    <a:lnR>
                      <a:noFill/>
                    </a:lnR>
                    <a:lnT>
                      <a:noFill/>
                    </a:lnT>
                    <a:lnB>
                      <a:noFill/>
                    </a:lnB>
                    <a:noFill/>
                  </a:tcPr>
                </a:tc>
                <a:tc>
                  <a:txBody>
                    <a:bodyPr/>
                    <a:lstStyle/>
                    <a:p>
                      <a:pPr algn="r" fontAlgn="b"/>
                      <a:r>
                        <a:rPr lang="en-US" sz="1100" b="0" i="0" u="none" strike="noStrike">
                          <a:solidFill>
                            <a:srgbClr val="0C769E"/>
                          </a:solidFill>
                          <a:effectLst/>
                          <a:latin typeface="Aptos Narrow" panose="020B0004020202020204" pitchFamily="34" charset="0"/>
                        </a:rPr>
                        <a:t>1.0032</a:t>
                      </a:r>
                    </a:p>
                  </a:txBody>
                  <a:tcPr marL="9525" marR="9525" marT="9525" marB="0" anchor="b">
                    <a:lnL>
                      <a:noFill/>
                    </a:lnL>
                    <a:lnR>
                      <a:noFill/>
                    </a:lnR>
                    <a:lnT>
                      <a:noFill/>
                    </a:lnT>
                    <a:lnB>
                      <a:noFill/>
                    </a:lnB>
                    <a:noFill/>
                  </a:tcPr>
                </a:tc>
                <a:tc>
                  <a:txBody>
                    <a:bodyPr/>
                    <a:lstStyle/>
                    <a:p>
                      <a:pPr algn="r" fontAlgn="b"/>
                      <a:r>
                        <a:rPr lang="en-US" sz="1100" b="0" i="0" u="none" strike="noStrike">
                          <a:solidFill>
                            <a:srgbClr val="0C769E"/>
                          </a:solidFill>
                          <a:effectLst/>
                          <a:latin typeface="Aptos Narrow" panose="020B0004020202020204" pitchFamily="34" charset="0"/>
                        </a:rPr>
                        <a:t>41601</a:t>
                      </a:r>
                    </a:p>
                  </a:txBody>
                  <a:tcPr marL="9525" marR="9525" marT="9525" marB="0" anchor="b">
                    <a:lnL>
                      <a:noFill/>
                    </a:lnL>
                    <a:lnR>
                      <a:noFill/>
                    </a:lnR>
                    <a:lnT>
                      <a:noFill/>
                    </a:lnT>
                    <a:lnB>
                      <a:noFill/>
                    </a:lnB>
                    <a:noFill/>
                  </a:tcPr>
                </a:tc>
                <a:extLst>
                  <a:ext uri="{0D108BD9-81ED-4DB2-BD59-A6C34878D82A}">
                    <a16:rowId xmlns:a16="http://schemas.microsoft.com/office/drawing/2014/main" val="2355515812"/>
                  </a:ext>
                </a:extLst>
              </a:tr>
              <a:tr h="715616">
                <a:tc>
                  <a:txBody>
                    <a:bodyPr/>
                    <a:lstStyle/>
                    <a:p>
                      <a:pPr algn="l" fontAlgn="b"/>
                      <a:r>
                        <a:rPr lang="en-US" sz="1100" b="0" i="0" u="none" strike="noStrike">
                          <a:solidFill>
                            <a:srgbClr val="0C769E"/>
                          </a:solidFill>
                          <a:effectLst/>
                          <a:latin typeface="Aptos Narrow" panose="020B0004020202020204" pitchFamily="34" charset="0"/>
                        </a:rPr>
                        <a:t>Laptops</a:t>
                      </a:r>
                    </a:p>
                  </a:txBody>
                  <a:tcPr marL="9525" marR="9525" marT="9525" marB="0" anchor="b">
                    <a:lnL>
                      <a:noFill/>
                    </a:lnL>
                    <a:lnR>
                      <a:noFill/>
                    </a:lnR>
                    <a:lnT>
                      <a:noFill/>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1.0048</a:t>
                      </a:r>
                    </a:p>
                  </a:txBody>
                  <a:tcPr marL="9525" marR="9525" marT="9525" marB="0" anchor="b">
                    <a:lnL>
                      <a:noFill/>
                    </a:lnL>
                    <a:lnR>
                      <a:noFill/>
                    </a:lnR>
                    <a:lnT>
                      <a:noFill/>
                    </a:lnT>
                    <a:lnB>
                      <a:noFill/>
                    </a:lnB>
                    <a:solidFill>
                      <a:srgbClr val="CAEDFB"/>
                    </a:solidFill>
                  </a:tcPr>
                </a:tc>
                <a:tc>
                  <a:txBody>
                    <a:bodyPr/>
                    <a:lstStyle/>
                    <a:p>
                      <a:pPr algn="r" fontAlgn="b"/>
                      <a:r>
                        <a:rPr lang="en-US" sz="1100" b="0" i="0" u="none" strike="noStrike">
                          <a:solidFill>
                            <a:srgbClr val="0C769E"/>
                          </a:solidFill>
                          <a:effectLst/>
                          <a:latin typeface="Aptos Narrow" panose="020B0004020202020204" pitchFamily="34" charset="0"/>
                        </a:rPr>
                        <a:t>40439</a:t>
                      </a:r>
                    </a:p>
                  </a:txBody>
                  <a:tcPr marL="9525" marR="9525" marT="9525" marB="0" anchor="b">
                    <a:lnL>
                      <a:noFill/>
                    </a:lnL>
                    <a:lnR>
                      <a:noFill/>
                    </a:lnR>
                    <a:lnT>
                      <a:noFill/>
                    </a:lnT>
                    <a:lnB>
                      <a:noFill/>
                    </a:lnB>
                    <a:solidFill>
                      <a:srgbClr val="CAEDFB"/>
                    </a:solidFill>
                  </a:tcPr>
                </a:tc>
                <a:extLst>
                  <a:ext uri="{0D108BD9-81ED-4DB2-BD59-A6C34878D82A}">
                    <a16:rowId xmlns:a16="http://schemas.microsoft.com/office/drawing/2014/main" val="1892023350"/>
                  </a:ext>
                </a:extLst>
              </a:tr>
              <a:tr h="715616">
                <a:tc>
                  <a:txBody>
                    <a:bodyPr/>
                    <a:lstStyle/>
                    <a:p>
                      <a:pPr algn="l" fontAlgn="b"/>
                      <a:r>
                        <a:rPr lang="en-US" sz="1100" b="0" i="0" u="none" strike="noStrike">
                          <a:solidFill>
                            <a:srgbClr val="0C769E"/>
                          </a:solidFill>
                          <a:effectLst/>
                          <a:latin typeface="Aptos Narrow" panose="020B0004020202020204" pitchFamily="34" charset="0"/>
                        </a:rPr>
                        <a:t>Home_Appliances</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tc>
                  <a:txBody>
                    <a:bodyPr/>
                    <a:lstStyle/>
                    <a:p>
                      <a:pPr algn="r" fontAlgn="b"/>
                      <a:r>
                        <a:rPr lang="en-US" sz="1100" b="0" i="0" u="none" strike="noStrike">
                          <a:solidFill>
                            <a:srgbClr val="0C769E"/>
                          </a:solidFill>
                          <a:effectLst/>
                          <a:latin typeface="Aptos Narrow" panose="020B0004020202020204" pitchFamily="34" charset="0"/>
                        </a:rPr>
                        <a:t>1.0076</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tc>
                  <a:txBody>
                    <a:bodyPr/>
                    <a:lstStyle/>
                    <a:p>
                      <a:pPr algn="r" fontAlgn="b"/>
                      <a:r>
                        <a:rPr lang="en-US" sz="1100" b="0" i="0" u="none" strike="noStrike" dirty="0">
                          <a:solidFill>
                            <a:srgbClr val="0C769E"/>
                          </a:solidFill>
                          <a:effectLst/>
                          <a:latin typeface="Aptos Narrow" panose="020B0004020202020204" pitchFamily="34" charset="0"/>
                        </a:rPr>
                        <a:t>42203</a:t>
                      </a:r>
                    </a:p>
                  </a:txBody>
                  <a:tcPr marL="9525" marR="9525" marT="9525" marB="0" anchor="b">
                    <a:lnL>
                      <a:noFill/>
                    </a:lnL>
                    <a:lnR>
                      <a:noFill/>
                    </a:lnR>
                    <a:lnT>
                      <a:noFill/>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4183545453"/>
                  </a:ext>
                </a:extLst>
              </a:tr>
            </a:tbl>
          </a:graphicData>
        </a:graphic>
      </p:graphicFrame>
      <p:cxnSp>
        <p:nvCxnSpPr>
          <p:cNvPr id="16" name="Straight Connector 15">
            <a:extLst>
              <a:ext uri="{FF2B5EF4-FFF2-40B4-BE49-F238E27FC236}">
                <a16:creationId xmlns:a16="http://schemas.microsoft.com/office/drawing/2014/main" id="{881EF127-E9C9-6DF8-027D-F94E0EBBA279}"/>
              </a:ext>
            </a:extLst>
          </p:cNvPr>
          <p:cNvCxnSpPr>
            <a:cxnSpLocks/>
          </p:cNvCxnSpPr>
          <p:nvPr/>
        </p:nvCxnSpPr>
        <p:spPr>
          <a:xfrm>
            <a:off x="14822" y="6699660"/>
            <a:ext cx="1033685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322705"/>
      </p:ext>
    </p:extLst>
  </p:cSld>
  <p:clrMapOvr>
    <a:masterClrMapping/>
  </p:clrMapOvr>
  <p:transition spd="slow">
    <p:push dir="u"/>
    <p:sndAc>
      <p:stSnd>
        <p:snd r:embed="rId2" name="arrow.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road with mountains in the background&#10;&#10;AI-generated content may be incorrect.">
            <a:extLst>
              <a:ext uri="{FF2B5EF4-FFF2-40B4-BE49-F238E27FC236}">
                <a16:creationId xmlns:a16="http://schemas.microsoft.com/office/drawing/2014/main" id="{040732E9-31F5-8109-B06F-686CCF649237}"/>
              </a:ext>
            </a:extLst>
          </p:cNvPr>
          <p:cNvPicPr>
            <a:picLocks/>
          </p:cNvPicPr>
          <p:nvPr/>
        </p:nvPicPr>
        <p:blipFill>
          <a:blip r:embed="rId3">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106371F-CFF0-AD1C-B2B1-14B8210264BD}"/>
              </a:ext>
            </a:extLst>
          </p:cNvPr>
          <p:cNvSpPr>
            <a:spLocks noGrp="1"/>
          </p:cNvSpPr>
          <p:nvPr>
            <p:ph type="title"/>
          </p:nvPr>
        </p:nvSpPr>
        <p:spPr>
          <a:xfrm>
            <a:off x="965200" y="965200"/>
            <a:ext cx="10261600" cy="3564869"/>
          </a:xfrm>
        </p:spPr>
        <p:txBody>
          <a:bodyPr vert="horz" lIns="91440" tIns="45720" rIns="91440" bIns="45720" rtlCol="0" anchor="b">
            <a:normAutofit/>
          </a:bodyPr>
          <a:lstStyle/>
          <a:p>
            <a:r>
              <a:rPr lang="en-US" sz="7200">
                <a:ln w="22225">
                  <a:solidFill>
                    <a:schemeClr val="tx1"/>
                  </a:solidFill>
                  <a:miter lim="800000"/>
                </a:ln>
                <a:noFill/>
              </a:rPr>
              <a:t>RECOMMENDATIONS FOR ENHANCED INVENTORY MANAGEMENT </a:t>
            </a:r>
          </a:p>
        </p:txBody>
      </p:sp>
    </p:spTree>
    <p:extLst>
      <p:ext uri="{BB962C8B-B14F-4D97-AF65-F5344CB8AC3E}">
        <p14:creationId xmlns:p14="http://schemas.microsoft.com/office/powerpoint/2010/main" val="2678514191"/>
      </p:ext>
    </p:extLst>
  </p:cSld>
  <p:clrMapOvr>
    <a:overrideClrMapping bg1="dk1" tx1="lt1" bg2="dk2" tx2="lt2" accent1="accent1" accent2="accent2" accent3="accent3" accent4="accent4" accent5="accent5" accent6="accent6" hlink="hlink" folHlink="folHlink"/>
  </p:clrMapOvr>
  <p:transition spd="slow">
    <p:push dir="u"/>
    <p:sndAc>
      <p:stSnd>
        <p:snd r:embed="rId2" name="arrow.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FC207-02CD-951D-CBB7-A4D0D6838229}"/>
              </a:ext>
            </a:extLst>
          </p:cNvPr>
          <p:cNvSpPr>
            <a:spLocks noGrp="1"/>
          </p:cNvSpPr>
          <p:nvPr>
            <p:ph type="title"/>
          </p:nvPr>
        </p:nvSpPr>
        <p:spPr>
          <a:xfrm>
            <a:off x="4842934" y="905933"/>
            <a:ext cx="6660090" cy="965200"/>
          </a:xfrm>
        </p:spPr>
        <p:txBody>
          <a:bodyPr>
            <a:normAutofit/>
          </a:bodyPr>
          <a:lstStyle/>
          <a:p>
            <a:pPr marL="342900" marR="0" lvl="0" indent="-342900">
              <a:lnSpc>
                <a:spcPct val="90000"/>
              </a:lnSpc>
              <a:spcAft>
                <a:spcPts val="800"/>
              </a:spcAft>
            </a:pPr>
            <a:r>
              <a:rPr lang="en-US" sz="1900" u="sng" strike="noStrike" kern="100" dirty="0">
                <a:effectLst/>
                <a:latin typeface="Aptos" panose="020B0004020202020204" pitchFamily="34" charset="0"/>
                <a:ea typeface="Aptos" panose="020B0004020202020204" pitchFamily="34" charset="0"/>
                <a:cs typeface="Times New Roman" panose="02020603050405020304" pitchFamily="18" charset="0"/>
              </a:rPr>
              <a:t>RECOMMENDATIONS IN OPTIMIZING INVENTORY LEVELS TO MINIMIZE OVERSTOCK AND UNDERSTOCK SITUATIONS</a:t>
            </a:r>
            <a:br>
              <a:rPr lang="en-US" sz="1900" u="none" strike="noStrike" kern="100" dirty="0">
                <a:effectLst/>
                <a:latin typeface="Aptos" panose="020B0004020202020204" pitchFamily="34" charset="0"/>
                <a:ea typeface="Aptos" panose="020B0004020202020204" pitchFamily="34" charset="0"/>
                <a:cs typeface="Times New Roman" panose="02020603050405020304" pitchFamily="18" charset="0"/>
              </a:rPr>
            </a:br>
            <a:endParaRPr lang="en-US" sz="1900" dirty="0"/>
          </a:p>
        </p:txBody>
      </p:sp>
      <p:pic>
        <p:nvPicPr>
          <p:cNvPr id="90" name="Graphic 89" descr="Gears">
            <a:extLst>
              <a:ext uri="{FF2B5EF4-FFF2-40B4-BE49-F238E27FC236}">
                <a16:creationId xmlns:a16="http://schemas.microsoft.com/office/drawing/2014/main" id="{9F473C98-7D7C-720F-3217-4487139606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616063"/>
            <a:ext cx="3632789" cy="363278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86" name="Content Placeholder 2">
            <a:extLst>
              <a:ext uri="{FF2B5EF4-FFF2-40B4-BE49-F238E27FC236}">
                <a16:creationId xmlns:a16="http://schemas.microsoft.com/office/drawing/2014/main" id="{F15B7B87-2061-EE58-4BC0-8A8A508BD0BA}"/>
              </a:ext>
            </a:extLst>
          </p:cNvPr>
          <p:cNvSpPr>
            <a:spLocks noGrp="1"/>
          </p:cNvSpPr>
          <p:nvPr>
            <p:ph idx="1"/>
          </p:nvPr>
        </p:nvSpPr>
        <p:spPr>
          <a:xfrm>
            <a:off x="4842933" y="1779346"/>
            <a:ext cx="6660090" cy="4175137"/>
          </a:xfrm>
        </p:spPr>
        <p:txBody>
          <a:bodyPr>
            <a:normAutofit fontScale="92500" lnSpcReduction="10000"/>
          </a:bodyPr>
          <a:lstStyle/>
          <a:p>
            <a:pPr marL="0" indent="0">
              <a:lnSpc>
                <a:spcPct val="110000"/>
              </a:lnSpc>
              <a:buNone/>
            </a:pPr>
            <a:r>
              <a:rPr lang="en-US" sz="2800" dirty="0"/>
              <a:t>After analyzing inventory levels, we found that a more stable and accurate way to assess sales performance was by looking at the </a:t>
            </a:r>
            <a:r>
              <a:rPr lang="en-US" sz="2800" b="1" dirty="0"/>
              <a:t>average quantity of sales over the year</a:t>
            </a:r>
            <a:r>
              <a:rPr lang="en-US" sz="2800" dirty="0"/>
              <a:t>. This approach gave us a clearer picture of which products performed best and which ones lagged. By following these insights, inventory management can be fine-tuned to meet demand efficiently, minimize waste, and maximize profitability.</a:t>
            </a:r>
            <a:endParaRPr lang="en-US" sz="2000" dirty="0"/>
          </a:p>
          <a:p>
            <a:pPr marL="0" indent="0">
              <a:buNone/>
            </a:pPr>
            <a:endParaRPr lang="en-US" sz="2800" dirty="0"/>
          </a:p>
        </p:txBody>
      </p:sp>
    </p:spTree>
    <p:extLst>
      <p:ext uri="{BB962C8B-B14F-4D97-AF65-F5344CB8AC3E}">
        <p14:creationId xmlns:p14="http://schemas.microsoft.com/office/powerpoint/2010/main" val="13341434"/>
      </p:ext>
    </p:extLst>
  </p:cSld>
  <p:clrMapOvr>
    <a:masterClrMapping/>
  </p:clrMapOvr>
  <p:transition spd="slow">
    <p:push dir="u"/>
    <p:sndAc>
      <p:stSnd>
        <p:snd r:embed="rId2" name="arrow.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B725-75BB-44CB-2C94-281B548DBE2D}"/>
              </a:ext>
            </a:extLst>
          </p:cNvPr>
          <p:cNvSpPr>
            <a:spLocks noGrp="1"/>
          </p:cNvSpPr>
          <p:nvPr>
            <p:ph type="title"/>
          </p:nvPr>
        </p:nvSpPr>
        <p:spPr>
          <a:xfrm>
            <a:off x="680321" y="753228"/>
            <a:ext cx="9613861" cy="1080938"/>
          </a:xfrm>
        </p:spPr>
        <p:txBody>
          <a:bodyPr>
            <a:normAutofit fontScale="90000"/>
          </a:bodyPr>
          <a:lstStyle/>
          <a:p>
            <a:r>
              <a:rPr lang="en-US" sz="3600" u="sng" strike="noStrike" kern="100" dirty="0">
                <a:effectLst/>
                <a:latin typeface="Aptos" panose="020B0004020202020204" pitchFamily="34" charset="0"/>
                <a:ea typeface="Aptos" panose="020B0004020202020204" pitchFamily="34" charset="0"/>
                <a:cs typeface="Times New Roman" panose="02020603050405020304" pitchFamily="18" charset="0"/>
              </a:rPr>
              <a:t>RECOMMENDATIONS IN OPTIMIZING INVENTORY LEVELS TO MINIMIZE OVERSTOCK AND UNDERSTOCK SITUATIONS</a:t>
            </a:r>
            <a:endParaRPr lang="en-US" u="sng" dirty="0"/>
          </a:p>
        </p:txBody>
      </p:sp>
      <p:graphicFrame>
        <p:nvGraphicFramePr>
          <p:cNvPr id="5" name="Content Placeholder 2">
            <a:extLst>
              <a:ext uri="{FF2B5EF4-FFF2-40B4-BE49-F238E27FC236}">
                <a16:creationId xmlns:a16="http://schemas.microsoft.com/office/drawing/2014/main" id="{57CF80C7-CD42-7AF5-B41E-8B0EFF59306C}"/>
              </a:ext>
            </a:extLst>
          </p:cNvPr>
          <p:cNvGraphicFramePr>
            <a:graphicFrameLocks noGrp="1"/>
          </p:cNvGraphicFramePr>
          <p:nvPr>
            <p:ph idx="1"/>
            <p:extLst>
              <p:ext uri="{D42A27DB-BD31-4B8C-83A1-F6EECF244321}">
                <p14:modId xmlns:p14="http://schemas.microsoft.com/office/powerpoint/2010/main" val="212658709"/>
              </p:ext>
            </p:extLst>
          </p:nvPr>
        </p:nvGraphicFramePr>
        <p:xfrm>
          <a:off x="681037" y="2336800"/>
          <a:ext cx="11004457" cy="430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4397010"/>
      </p:ext>
    </p:extLst>
  </p:cSld>
  <p:clrMapOvr>
    <a:masterClrMapping/>
  </p:clrMapOvr>
  <p:transition spd="slow">
    <p:push dir="u"/>
    <p:sndAc>
      <p:stSnd>
        <p:snd r:embed="rId2" name="arrow.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D51117-F059-CFD2-B376-84757FFC1C7C}"/>
              </a:ext>
            </a:extLst>
          </p:cNvPr>
          <p:cNvSpPr>
            <a:spLocks noGrp="1"/>
          </p:cNvSpPr>
          <p:nvPr>
            <p:ph type="title"/>
          </p:nvPr>
        </p:nvSpPr>
        <p:spPr>
          <a:xfrm>
            <a:off x="3618200" y="852055"/>
            <a:ext cx="7257455" cy="1752599"/>
          </a:xfrm>
        </p:spPr>
        <p:txBody>
          <a:bodyPr>
            <a:normAutofit/>
          </a:bodyPr>
          <a:lstStyle/>
          <a:p>
            <a:r>
              <a:rPr lang="en-US" sz="3600" u="sng" dirty="0">
                <a:effectLst/>
                <a:latin typeface="Aptos" panose="020B0004020202020204" pitchFamily="34" charset="0"/>
                <a:ea typeface="Aptos" panose="020B0004020202020204" pitchFamily="34" charset="0"/>
                <a:cs typeface="Times New Roman" panose="02020603050405020304" pitchFamily="18" charset="0"/>
              </a:rPr>
              <a:t>RECOMMENDATIONS FOR SEASONAL TRENDS</a:t>
            </a:r>
            <a:endParaRPr lang="en-US" sz="3600" u="sng" dirty="0"/>
          </a:p>
        </p:txBody>
      </p:sp>
      <p:sp>
        <p:nvSpPr>
          <p:cNvPr id="37"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649700" y="0"/>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38"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2116425" y="0"/>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39"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457487" y="2587625"/>
            <a:ext cx="2693987" cy="4270375"/>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40" name="Freeform: Shape 15">
            <a:extLst>
              <a:ext uri="{FF2B5EF4-FFF2-40B4-BE49-F238E27FC236}">
                <a16:creationId xmlns:a16="http://schemas.microsoft.com/office/drawing/2014/main" id="{DCA45AB7-441E-40A8-A98B-557D68F48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 y="2692400"/>
            <a:ext cx="2713324" cy="3390788"/>
          </a:xfrm>
          <a:custGeom>
            <a:avLst/>
            <a:gdLst>
              <a:gd name="connsiteX0" fmla="*/ 0 w 2713324"/>
              <a:gd name="connsiteY0" fmla="*/ 0 h 3390788"/>
              <a:gd name="connsiteX1" fmla="*/ 4763 w 2713324"/>
              <a:gd name="connsiteY1" fmla="*/ 4763 h 3390788"/>
              <a:gd name="connsiteX2" fmla="*/ 2713324 w 2713324"/>
              <a:gd name="connsiteY2" fmla="*/ 3390788 h 3390788"/>
              <a:gd name="connsiteX3" fmla="*/ 2713324 w 2713324"/>
              <a:gd name="connsiteY3" fmla="*/ 2368619 h 3390788"/>
              <a:gd name="connsiteX4" fmla="*/ 357188 w 2713324"/>
              <a:gd name="connsiteY4" fmla="*/ 90488 h 339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3324" h="3390788">
                <a:moveTo>
                  <a:pt x="0" y="0"/>
                </a:moveTo>
                <a:lnTo>
                  <a:pt x="4763" y="4763"/>
                </a:lnTo>
                <a:lnTo>
                  <a:pt x="2713324" y="3390788"/>
                </a:lnTo>
                <a:lnTo>
                  <a:pt x="2713324" y="2368619"/>
                </a:lnTo>
                <a:lnTo>
                  <a:pt x="357188" y="90488"/>
                </a:lnTo>
                <a:close/>
              </a:path>
            </a:pathLst>
          </a:custGeom>
          <a:solidFill>
            <a:schemeClr val="accent1">
              <a:lumMod val="75000"/>
            </a:schemeClr>
          </a:solidFill>
          <a:ln>
            <a:noFill/>
          </a:ln>
        </p:spPr>
        <p:txBody>
          <a:bodyPr/>
          <a:lstStyle/>
          <a:p>
            <a:endParaRPr lang="en-US"/>
          </a:p>
        </p:txBody>
      </p:sp>
      <p:sp>
        <p:nvSpPr>
          <p:cNvPr id="41" name="Freeform: Shape 17">
            <a:extLst>
              <a:ext uri="{FF2B5EF4-FFF2-40B4-BE49-F238E27FC236}">
                <a16:creationId xmlns:a16="http://schemas.microsoft.com/office/drawing/2014/main" id="{5F516030-4F00-4C48-AD93-91EFA17A1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582863"/>
            <a:ext cx="3151474" cy="4275137"/>
          </a:xfrm>
          <a:custGeom>
            <a:avLst/>
            <a:gdLst>
              <a:gd name="connsiteX0" fmla="*/ 0 w 3151474"/>
              <a:gd name="connsiteY0" fmla="*/ 0 h 4275137"/>
              <a:gd name="connsiteX1" fmla="*/ 0 w 3151474"/>
              <a:gd name="connsiteY1" fmla="*/ 4757 h 4275137"/>
              <a:gd name="connsiteX2" fmla="*/ 2693987 w 3151474"/>
              <a:gd name="connsiteY2" fmla="*/ 4275137 h 4275137"/>
              <a:gd name="connsiteX3" fmla="*/ 3151474 w 3151474"/>
              <a:gd name="connsiteY3" fmla="*/ 4275137 h 4275137"/>
              <a:gd name="connsiteX4" fmla="*/ 3151474 w 3151474"/>
              <a:gd name="connsiteY4" fmla="*/ 3714295 h 4275137"/>
              <a:gd name="connsiteX5" fmla="*/ 419100 w 3151474"/>
              <a:gd name="connsiteY5" fmla="*/ 176017 h 4275137"/>
              <a:gd name="connsiteX6" fmla="*/ 361950 w 3151474"/>
              <a:gd name="connsiteY6" fmla="*/ 95144 h 4275137"/>
              <a:gd name="connsiteX7" fmla="*/ 357188 w 3151474"/>
              <a:gd name="connsiteY7" fmla="*/ 90387 h 42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1474" h="4275137">
                <a:moveTo>
                  <a:pt x="0" y="0"/>
                </a:moveTo>
                <a:lnTo>
                  <a:pt x="0" y="4757"/>
                </a:lnTo>
                <a:lnTo>
                  <a:pt x="2693987" y="4275137"/>
                </a:lnTo>
                <a:lnTo>
                  <a:pt x="3151474" y="4275137"/>
                </a:lnTo>
                <a:lnTo>
                  <a:pt x="3151474" y="3714295"/>
                </a:lnTo>
                <a:lnTo>
                  <a:pt x="419100" y="176017"/>
                </a:lnTo>
                <a:lnTo>
                  <a:pt x="361950" y="95144"/>
                </a:lnTo>
                <a:lnTo>
                  <a:pt x="357188" y="90387"/>
                </a:lnTo>
                <a:close/>
              </a:path>
            </a:pathLst>
          </a:custGeom>
          <a:solidFill>
            <a:srgbClr val="404040"/>
          </a:solidFill>
          <a:ln>
            <a:noFill/>
          </a:ln>
        </p:spPr>
        <p:txBody>
          <a:bodyPr/>
          <a:lstStyle/>
          <a:p>
            <a:endParaRPr lang="en-US"/>
          </a:p>
        </p:txBody>
      </p:sp>
      <p:sp>
        <p:nvSpPr>
          <p:cNvPr id="42" name="Freeform: Shape 19">
            <a:extLst>
              <a:ext uri="{FF2B5EF4-FFF2-40B4-BE49-F238E27FC236}">
                <a16:creationId xmlns:a16="http://schemas.microsoft.com/office/drawing/2014/main" id="{5820085E-2582-4A95-98EE-45DFFD5C0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697164"/>
            <a:ext cx="2706398" cy="3513899"/>
          </a:xfrm>
          <a:custGeom>
            <a:avLst/>
            <a:gdLst>
              <a:gd name="connsiteX0" fmla="*/ 0 w 2706398"/>
              <a:gd name="connsiteY0" fmla="*/ 0 h 3513899"/>
              <a:gd name="connsiteX1" fmla="*/ 2706398 w 2706398"/>
              <a:gd name="connsiteY1" fmla="*/ 3513899 h 3513899"/>
              <a:gd name="connsiteX2" fmla="*/ 2706398 w 2706398"/>
              <a:gd name="connsiteY2" fmla="*/ 3383321 h 3513899"/>
            </a:gdLst>
            <a:ahLst/>
            <a:cxnLst>
              <a:cxn ang="0">
                <a:pos x="connsiteX0" y="connsiteY0"/>
              </a:cxn>
              <a:cxn ang="0">
                <a:pos x="connsiteX1" y="connsiteY1"/>
              </a:cxn>
              <a:cxn ang="0">
                <a:pos x="connsiteX2" y="connsiteY2"/>
              </a:cxn>
            </a:cxnLst>
            <a:rect l="l" t="t" r="r" b="b"/>
            <a:pathLst>
              <a:path w="2706398" h="3513899">
                <a:moveTo>
                  <a:pt x="0" y="0"/>
                </a:moveTo>
                <a:lnTo>
                  <a:pt x="2706398" y="3513899"/>
                </a:lnTo>
                <a:lnTo>
                  <a:pt x="2706398" y="3383321"/>
                </a:lnTo>
                <a:close/>
              </a:path>
            </a:pathLst>
          </a:custGeom>
          <a:solidFill>
            <a:schemeClr val="accent1">
              <a:lumMod val="50000"/>
            </a:schemeClr>
          </a:solidFill>
          <a:ln>
            <a:noFill/>
          </a:ln>
        </p:spPr>
        <p:txBody>
          <a:bodyPr/>
          <a:lstStyle/>
          <a:p>
            <a:endParaRPr lang="en-US"/>
          </a:p>
        </p:txBody>
      </p:sp>
      <p:graphicFrame>
        <p:nvGraphicFramePr>
          <p:cNvPr id="43" name="Content Placeholder 2">
            <a:extLst>
              <a:ext uri="{FF2B5EF4-FFF2-40B4-BE49-F238E27FC236}">
                <a16:creationId xmlns:a16="http://schemas.microsoft.com/office/drawing/2014/main" id="{1F75FF33-4D23-4AA9-2672-D14807EEA1D0}"/>
              </a:ext>
            </a:extLst>
          </p:cNvPr>
          <p:cNvGraphicFramePr>
            <a:graphicFrameLocks noGrp="1"/>
          </p:cNvGraphicFramePr>
          <p:nvPr>
            <p:ph idx="1"/>
            <p:extLst>
              <p:ext uri="{D42A27DB-BD31-4B8C-83A1-F6EECF244321}">
                <p14:modId xmlns:p14="http://schemas.microsoft.com/office/powerpoint/2010/main" val="3186263125"/>
              </p:ext>
            </p:extLst>
          </p:nvPr>
        </p:nvGraphicFramePr>
        <p:xfrm>
          <a:off x="3170811" y="3146612"/>
          <a:ext cx="8407107" cy="34640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25564606"/>
      </p:ext>
    </p:extLst>
  </p:cSld>
  <p:clrMapOvr>
    <a:masterClrMapping/>
  </p:clrMapOvr>
  <p:transition spd="slow">
    <p:push dir="u"/>
    <p:sndAc>
      <p:stSnd>
        <p:snd r:embed="rId2" name="arrow.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A3BA5-CAB1-C73C-1B9F-8663926715F2}"/>
              </a:ext>
            </a:extLst>
          </p:cNvPr>
          <p:cNvSpPr>
            <a:spLocks noGrp="1"/>
          </p:cNvSpPr>
          <p:nvPr>
            <p:ph type="title"/>
          </p:nvPr>
        </p:nvSpPr>
        <p:spPr/>
        <p:txBody>
          <a:bodyPr/>
          <a:lstStyle/>
          <a:p>
            <a:r>
              <a:rPr lang="en-US" sz="4000" u="sng" dirty="0">
                <a:effectLst/>
                <a:latin typeface="Aptos" panose="020B0004020202020204" pitchFamily="34" charset="0"/>
                <a:ea typeface="Aptos" panose="020B0004020202020204" pitchFamily="34" charset="0"/>
                <a:cs typeface="Times New Roman" panose="02020603050405020304" pitchFamily="18" charset="0"/>
              </a:rPr>
              <a:t>RECOMMENDATIONS FOR SEASONAL TRENDS</a:t>
            </a:r>
            <a:endParaRPr lang="en-US" u="sng" dirty="0"/>
          </a:p>
        </p:txBody>
      </p:sp>
      <p:graphicFrame>
        <p:nvGraphicFramePr>
          <p:cNvPr id="5" name="Content Placeholder 2">
            <a:extLst>
              <a:ext uri="{FF2B5EF4-FFF2-40B4-BE49-F238E27FC236}">
                <a16:creationId xmlns:a16="http://schemas.microsoft.com/office/drawing/2014/main" id="{48476ACB-BA53-3F7A-ED55-4C480949DF8B}"/>
              </a:ext>
            </a:extLst>
          </p:cNvPr>
          <p:cNvGraphicFramePr>
            <a:graphicFrameLocks noGrp="1"/>
          </p:cNvGraphicFramePr>
          <p:nvPr>
            <p:ph idx="1"/>
            <p:extLst>
              <p:ext uri="{D42A27DB-BD31-4B8C-83A1-F6EECF244321}">
                <p14:modId xmlns:p14="http://schemas.microsoft.com/office/powerpoint/2010/main" val="1736482050"/>
              </p:ext>
            </p:extLst>
          </p:nvPr>
        </p:nvGraphicFramePr>
        <p:xfrm>
          <a:off x="1474889" y="2622028"/>
          <a:ext cx="10367341" cy="3124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5250541"/>
      </p:ext>
    </p:extLst>
  </p:cSld>
  <p:clrMapOvr>
    <a:masterClrMapping/>
  </p:clrMapOvr>
  <p:transition spd="slow">
    <p:push dir="u"/>
    <p:sndAc>
      <p:stSnd>
        <p:snd r:embed="rId2" name="arrow.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20B4-14BE-8007-DB50-DCCD2D0069C3}"/>
              </a:ext>
            </a:extLst>
          </p:cNvPr>
          <p:cNvSpPr>
            <a:spLocks noGrp="1"/>
          </p:cNvSpPr>
          <p:nvPr>
            <p:ph type="title"/>
          </p:nvPr>
        </p:nvSpPr>
        <p:spPr/>
        <p:txBody>
          <a:bodyPr>
            <a:normAutofit fontScale="90000"/>
          </a:bodyPr>
          <a:lstStyle/>
          <a:p>
            <a:r>
              <a:rPr lang="en-US" u="sng" dirty="0"/>
              <a:t>RECOMMENDATIONS FOR IMPROVING CUSTOMER SATISFACTION BY ENSURING PRODUCT AVAILABILITY</a:t>
            </a:r>
            <a:r>
              <a:rPr lang="en-US" dirty="0"/>
              <a:t>. </a:t>
            </a:r>
          </a:p>
        </p:txBody>
      </p:sp>
      <p:sp>
        <p:nvSpPr>
          <p:cNvPr id="3" name="Content Placeholder 2">
            <a:extLst>
              <a:ext uri="{FF2B5EF4-FFF2-40B4-BE49-F238E27FC236}">
                <a16:creationId xmlns:a16="http://schemas.microsoft.com/office/drawing/2014/main" id="{22BA0A3C-922F-FB16-133F-60A74B5AC328}"/>
              </a:ext>
            </a:extLst>
          </p:cNvPr>
          <p:cNvSpPr>
            <a:spLocks noGrp="1"/>
          </p:cNvSpPr>
          <p:nvPr>
            <p:ph idx="1"/>
          </p:nvPr>
        </p:nvSpPr>
        <p:spPr/>
        <p:txBody>
          <a:bodyPr>
            <a:normAutofit/>
          </a:bodyPr>
          <a:lstStyle/>
          <a:p>
            <a:pPr marL="0" indent="0">
              <a:buNone/>
            </a:pPr>
            <a:r>
              <a:rPr lang="en-US" sz="2800" dirty="0"/>
              <a:t>To enhance our inventory optimization strategies, </a:t>
            </a:r>
            <a:r>
              <a:rPr lang="en-US" sz="2800" b="1" dirty="0"/>
              <a:t>leveraging data insights</a:t>
            </a:r>
            <a:r>
              <a:rPr lang="en-US" sz="2800" dirty="0"/>
              <a:t> has shown that most product categories hold significant value for customers, with </a:t>
            </a:r>
            <a:r>
              <a:rPr lang="en-US" sz="2800" b="1" dirty="0"/>
              <a:t>Electronics being the most in demand</a:t>
            </a:r>
            <a:r>
              <a:rPr lang="en-US" sz="2800" dirty="0"/>
              <a:t>. Sales in this category remain </a:t>
            </a:r>
            <a:r>
              <a:rPr lang="en-US" sz="2800" b="1" dirty="0"/>
              <a:t>unaffected by seasonal trends or inflation</a:t>
            </a:r>
            <a:r>
              <a:rPr lang="en-US" sz="2800" dirty="0"/>
              <a:t>, making it essential to </a:t>
            </a:r>
            <a:r>
              <a:rPr lang="en-US" sz="2800" b="1" dirty="0"/>
              <a:t>prioritize its inventory</a:t>
            </a:r>
            <a:r>
              <a:rPr lang="en-US" sz="2800" dirty="0"/>
              <a:t> and ensure consistent stock availability</a:t>
            </a:r>
          </a:p>
        </p:txBody>
      </p:sp>
    </p:spTree>
    <p:extLst>
      <p:ext uri="{BB962C8B-B14F-4D97-AF65-F5344CB8AC3E}">
        <p14:creationId xmlns:p14="http://schemas.microsoft.com/office/powerpoint/2010/main" val="3778185242"/>
      </p:ext>
    </p:extLst>
  </p:cSld>
  <p:clrMapOvr>
    <a:masterClrMapping/>
  </p:clrMapOvr>
  <p:transition spd="slow">
    <p:push dir="u"/>
    <p:sndAc>
      <p:stSnd>
        <p:snd r:embed="rId2" name="arrow.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DD535-3861-F3D5-AA14-F3594D01001B}"/>
              </a:ext>
            </a:extLst>
          </p:cNvPr>
          <p:cNvSpPr>
            <a:spLocks noGrp="1"/>
          </p:cNvSpPr>
          <p:nvPr>
            <p:ph type="title"/>
          </p:nvPr>
        </p:nvSpPr>
        <p:spPr>
          <a:xfrm>
            <a:off x="1484311" y="685800"/>
            <a:ext cx="10018713" cy="1185333"/>
          </a:xfrm>
        </p:spPr>
        <p:txBody>
          <a:bodyPr>
            <a:normAutofit fontScale="90000"/>
          </a:bodyPr>
          <a:lstStyle/>
          <a:p>
            <a:r>
              <a:rPr lang="en-US" dirty="0"/>
              <a:t>RECOMMENDATIONS FOR IMPROVING CUSTOMER SATISFACTION BY ENSURING PRODUCT AVAILABILITY</a:t>
            </a:r>
          </a:p>
        </p:txBody>
      </p:sp>
      <p:sp>
        <p:nvSpPr>
          <p:cNvPr id="8" name="Content Placeholder 2">
            <a:extLst>
              <a:ext uri="{FF2B5EF4-FFF2-40B4-BE49-F238E27FC236}">
                <a16:creationId xmlns:a16="http://schemas.microsoft.com/office/drawing/2014/main" id="{D422025B-55B5-EB98-1298-E1DB9FF85086}"/>
              </a:ext>
            </a:extLst>
          </p:cNvPr>
          <p:cNvSpPr>
            <a:spLocks noGrp="1"/>
          </p:cNvSpPr>
          <p:nvPr>
            <p:ph idx="1"/>
          </p:nvPr>
        </p:nvSpPr>
        <p:spPr>
          <a:xfrm>
            <a:off x="1619222" y="1896801"/>
            <a:ext cx="6985132" cy="4972293"/>
          </a:xfrm>
        </p:spPr>
        <p:txBody>
          <a:bodyPr>
            <a:normAutofit fontScale="77500" lnSpcReduction="20000"/>
          </a:bodyPr>
          <a:lstStyle/>
          <a:p>
            <a:pPr>
              <a:lnSpc>
                <a:spcPct val="90000"/>
              </a:lnSpc>
            </a:pPr>
            <a:r>
              <a:rPr lang="en-US" sz="2900" b="1" dirty="0"/>
              <a:t>Key Takeaways:</a:t>
            </a:r>
            <a:endParaRPr lang="en-US" sz="2900" dirty="0"/>
          </a:p>
          <a:p>
            <a:pPr>
              <a:lnSpc>
                <a:spcPct val="90000"/>
              </a:lnSpc>
              <a:buFont typeface="Arial" panose="020B0604020202020204" pitchFamily="34" charset="0"/>
              <a:buChar char="•"/>
            </a:pPr>
            <a:r>
              <a:rPr lang="en-US" sz="2900" b="1" dirty="0"/>
              <a:t>Electronics</a:t>
            </a:r>
            <a:r>
              <a:rPr lang="en-US" sz="2900" dirty="0"/>
              <a:t> should be </a:t>
            </a:r>
            <a:r>
              <a:rPr lang="en-US" sz="2900" b="1" dirty="0"/>
              <a:t>stocked at the highest levels</a:t>
            </a:r>
            <a:r>
              <a:rPr lang="en-US" sz="2900" dirty="0"/>
              <a:t> and given the most attention, as they consistently drive the highest sales.</a:t>
            </a:r>
          </a:p>
          <a:p>
            <a:pPr>
              <a:lnSpc>
                <a:spcPct val="90000"/>
              </a:lnSpc>
              <a:buFont typeface="Arial" panose="020B0604020202020204" pitchFamily="34" charset="0"/>
              <a:buChar char="•"/>
            </a:pPr>
            <a:r>
              <a:rPr lang="en-US" sz="2900" b="1" dirty="0"/>
              <a:t>Home Appliances</a:t>
            </a:r>
            <a:r>
              <a:rPr lang="en-US" sz="2900" dirty="0"/>
              <a:t> depend heavily on </a:t>
            </a:r>
            <a:r>
              <a:rPr lang="en-US" sz="2900" b="1" dirty="0"/>
              <a:t>promotional sales</a:t>
            </a:r>
            <a:r>
              <a:rPr lang="en-US" sz="2900" dirty="0"/>
              <a:t>, meaning inventory levels should be adjusted </a:t>
            </a:r>
            <a:r>
              <a:rPr lang="en-US" sz="2900" b="1" dirty="0"/>
              <a:t>based on seasonal demand</a:t>
            </a:r>
            <a:r>
              <a:rPr lang="en-US" sz="2900" dirty="0"/>
              <a:t> to avoid overstocking or shortages.</a:t>
            </a:r>
          </a:p>
          <a:p>
            <a:pPr>
              <a:lnSpc>
                <a:spcPct val="90000"/>
              </a:lnSpc>
              <a:buFont typeface="Arial" panose="020B0604020202020204" pitchFamily="34" charset="0"/>
              <a:buChar char="•"/>
            </a:pPr>
            <a:r>
              <a:rPr lang="en-US" sz="2900" b="1" dirty="0"/>
              <a:t>Smartphones and Laptops</a:t>
            </a:r>
            <a:r>
              <a:rPr lang="en-US" sz="2900" dirty="0"/>
              <a:t> experience </a:t>
            </a:r>
            <a:r>
              <a:rPr lang="en-US" sz="2900" b="1" dirty="0"/>
              <a:t>steady sales year-round</a:t>
            </a:r>
            <a:r>
              <a:rPr lang="en-US" sz="2900" dirty="0"/>
              <a:t>, with minimal influence from inflation or promotions. Their inventory should be maintained at an </a:t>
            </a:r>
            <a:r>
              <a:rPr lang="en-US" sz="2900" b="1" dirty="0"/>
              <a:t>optimal level</a:t>
            </a:r>
            <a:r>
              <a:rPr lang="en-US" sz="2900" dirty="0"/>
              <a:t> to ensure availability without over-allocating resources.</a:t>
            </a:r>
          </a:p>
          <a:p>
            <a:pPr>
              <a:lnSpc>
                <a:spcPct val="90000"/>
              </a:lnSpc>
            </a:pPr>
            <a:r>
              <a:rPr lang="en-US" sz="2900" dirty="0"/>
              <a:t>By aligning inventory management with these insights, we can </a:t>
            </a:r>
            <a:r>
              <a:rPr lang="en-US" sz="2900" b="1" dirty="0"/>
              <a:t>sustain growth, prevent stock imbalances, and maximize efficiency</a:t>
            </a:r>
            <a:r>
              <a:rPr lang="en-US" sz="2900" dirty="0"/>
              <a:t> in meeting customer demand.</a:t>
            </a:r>
          </a:p>
          <a:p>
            <a:pPr>
              <a:lnSpc>
                <a:spcPct val="90000"/>
              </a:lnSpc>
            </a:pPr>
            <a:endParaRPr lang="en-US" sz="1700" dirty="0"/>
          </a:p>
        </p:txBody>
      </p:sp>
      <p:pic>
        <p:nvPicPr>
          <p:cNvPr id="7" name="Graphic 6" descr="Key">
            <a:extLst>
              <a:ext uri="{FF2B5EF4-FFF2-40B4-BE49-F238E27FC236}">
                <a16:creationId xmlns:a16="http://schemas.microsoft.com/office/drawing/2014/main" id="{18166DF7-1A60-F890-1EE2-EA910E061B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85907" y="2535331"/>
            <a:ext cx="2717116" cy="271711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853263475"/>
      </p:ext>
    </p:extLst>
  </p:cSld>
  <p:clrMapOvr>
    <a:masterClrMapping/>
  </p:clrMapOvr>
  <p:transition spd="slow">
    <p:push dir="u"/>
    <p:sndAc>
      <p:stSnd>
        <p:snd r:embed="rId2" name="arrow.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05696-E145-C09C-4B53-41B1DFA69E36}"/>
              </a:ext>
            </a:extLst>
          </p:cNvPr>
          <p:cNvSpPr>
            <a:spLocks noGrp="1"/>
          </p:cNvSpPr>
          <p:nvPr>
            <p:ph type="title"/>
          </p:nvPr>
        </p:nvSpPr>
        <p:spPr>
          <a:xfrm>
            <a:off x="730624" y="427442"/>
            <a:ext cx="10780058" cy="1455146"/>
          </a:xfrm>
        </p:spPr>
        <p:txBody>
          <a:bodyPr>
            <a:normAutofit/>
          </a:bodyPr>
          <a:lstStyle/>
          <a:p>
            <a:r>
              <a:rPr lang="en-US" dirty="0"/>
              <a:t>   FINAL TAKEAWAYS: SMART INVENTORY, HAPPY BUSINESS!</a:t>
            </a:r>
          </a:p>
        </p:txBody>
      </p:sp>
      <p:sp>
        <p:nvSpPr>
          <p:cNvPr id="3" name="Content Placeholder 2">
            <a:extLst>
              <a:ext uri="{FF2B5EF4-FFF2-40B4-BE49-F238E27FC236}">
                <a16:creationId xmlns:a16="http://schemas.microsoft.com/office/drawing/2014/main" id="{0DE95F8D-4812-A59A-8AF2-2F2F63BA916C}"/>
              </a:ext>
            </a:extLst>
          </p:cNvPr>
          <p:cNvSpPr>
            <a:spLocks noGrp="1"/>
          </p:cNvSpPr>
          <p:nvPr>
            <p:ph idx="1"/>
          </p:nvPr>
        </p:nvSpPr>
        <p:spPr>
          <a:xfrm>
            <a:off x="1066800" y="2103119"/>
            <a:ext cx="10443882" cy="4512833"/>
          </a:xfrm>
        </p:spPr>
        <p:txBody>
          <a:bodyPr>
            <a:normAutofit fontScale="77500" lnSpcReduction="20000"/>
          </a:bodyPr>
          <a:lstStyle/>
          <a:p>
            <a:pPr>
              <a:lnSpc>
                <a:spcPct val="200000"/>
              </a:lnSpc>
            </a:pPr>
            <a:r>
              <a:rPr lang="en-US" sz="2600" dirty="0"/>
              <a:t>Efficient inventory management isn’t about guessing—it’s about strategic stocking. Electronics? Keep them flowing like a well-oiled supply chain because demand never sleeps. Home Appliances? Think of them like limited-time offers—stock up when promotions hit, but don’t overdo it. Smartphones &amp; Laptops? Maintain steady levels, like a good business strategy—consistent, reliable, and always in </a:t>
            </a:r>
            <a:r>
              <a:rPr lang="en-US" sz="2600" dirty="0" err="1"/>
              <a:t>demand.The</a:t>
            </a:r>
            <a:r>
              <a:rPr lang="en-US" sz="2600" dirty="0"/>
              <a:t> key? Stock smart, not hard—because the best-run inventories don’t just move products, they maximize efficiency and Profits</a:t>
            </a:r>
            <a:endParaRPr lang="en-US" dirty="0"/>
          </a:p>
        </p:txBody>
      </p:sp>
    </p:spTree>
    <p:extLst>
      <p:ext uri="{BB962C8B-B14F-4D97-AF65-F5344CB8AC3E}">
        <p14:creationId xmlns:p14="http://schemas.microsoft.com/office/powerpoint/2010/main" val="2826267944"/>
      </p:ext>
    </p:extLst>
  </p:cSld>
  <p:clrMapOvr>
    <a:masterClrMapping/>
  </p:clrMapOvr>
  <p:transition spd="slow">
    <p:push dir="u"/>
    <p:sndAc>
      <p:stSnd>
        <p:snd r:embed="rId2" name="arrow.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A1CB9210-1B60-D8C4-2F17-73DD5EB0A4A1}"/>
              </a:ext>
            </a:extLst>
          </p:cNvPr>
          <p:cNvPicPr>
            <a:picLocks/>
          </p:cNvPicPr>
          <p:nvPr/>
        </p:nvPicPr>
        <p:blipFill>
          <a:blip r:embed="rId3"/>
          <a:srcRect r="282" b="-1"/>
          <a:stretch/>
        </p:blipFill>
        <p:spPr>
          <a:xfrm>
            <a:off x="20" y="10"/>
            <a:ext cx="9947062" cy="6857990"/>
          </a:xfrm>
          <a:prstGeom prst="rect">
            <a:avLst/>
          </a:prstGeom>
        </p:spPr>
      </p:pic>
      <p:sp>
        <p:nvSpPr>
          <p:cNvPr id="2" name="Title 1">
            <a:extLst>
              <a:ext uri="{FF2B5EF4-FFF2-40B4-BE49-F238E27FC236}">
                <a16:creationId xmlns:a16="http://schemas.microsoft.com/office/drawing/2014/main" id="{69A904F6-3B6B-FA8C-DC3D-4823E80E9F3E}"/>
              </a:ext>
            </a:extLst>
          </p:cNvPr>
          <p:cNvSpPr>
            <a:spLocks noGrp="1"/>
          </p:cNvSpPr>
          <p:nvPr>
            <p:ph type="title"/>
          </p:nvPr>
        </p:nvSpPr>
        <p:spPr>
          <a:xfrm>
            <a:off x="7950782" y="644577"/>
            <a:ext cx="3825620" cy="2529088"/>
          </a:xfrm>
        </p:spPr>
        <p:txBody>
          <a:bodyPr anchor="b">
            <a:normAutofit fontScale="90000"/>
          </a:bodyPr>
          <a:lstStyle/>
          <a:p>
            <a:r>
              <a:rPr lang="en-US" sz="3600" dirty="0"/>
              <a:t> PRESENTED BY: DANIEL ASARE </a:t>
            </a:r>
            <a:br>
              <a:rPr lang="en-US" sz="3600" dirty="0"/>
            </a:br>
            <a:br>
              <a:rPr lang="en-US" sz="3600" dirty="0"/>
            </a:br>
            <a:r>
              <a:rPr lang="en-US" sz="3600" dirty="0"/>
              <a:t>REPRESENTING C24 -11 GROUP 3 EU</a:t>
            </a:r>
          </a:p>
        </p:txBody>
      </p:sp>
      <p:sp>
        <p:nvSpPr>
          <p:cNvPr id="3" name="Content Placeholder 2">
            <a:extLst>
              <a:ext uri="{FF2B5EF4-FFF2-40B4-BE49-F238E27FC236}">
                <a16:creationId xmlns:a16="http://schemas.microsoft.com/office/drawing/2014/main" id="{3C3CC98F-89B3-5992-BBD3-24E72B59EB60}"/>
              </a:ext>
            </a:extLst>
          </p:cNvPr>
          <p:cNvSpPr>
            <a:spLocks noGrp="1"/>
          </p:cNvSpPr>
          <p:nvPr>
            <p:ph idx="1"/>
          </p:nvPr>
        </p:nvSpPr>
        <p:spPr>
          <a:xfrm>
            <a:off x="8046719" y="2722729"/>
            <a:ext cx="3633747" cy="2700062"/>
          </a:xfrm>
        </p:spPr>
        <p:txBody>
          <a:bodyPr>
            <a:normAutofit/>
          </a:bodyPr>
          <a:lstStyle/>
          <a:p>
            <a:r>
              <a:rPr lang="en-US" sz="2000" dirty="0"/>
              <a:t>                         </a:t>
            </a:r>
          </a:p>
          <a:p>
            <a:endParaRPr lang="en-US" sz="2000" dirty="0"/>
          </a:p>
          <a:p>
            <a:pPr marL="0" indent="0">
              <a:buNone/>
            </a:pPr>
            <a:endParaRPr lang="en-US" sz="2000" dirty="0"/>
          </a:p>
        </p:txBody>
      </p:sp>
    </p:spTree>
    <p:extLst>
      <p:ext uri="{BB962C8B-B14F-4D97-AF65-F5344CB8AC3E}">
        <p14:creationId xmlns:p14="http://schemas.microsoft.com/office/powerpoint/2010/main" val="2353655434"/>
      </p:ext>
    </p:extLst>
  </p:cSld>
  <p:clrMapOvr>
    <a:masterClrMapping/>
  </p:clrMapOvr>
  <p:transition spd="slow">
    <p:push dir="u"/>
    <p:sndAc>
      <p:stSnd>
        <p:snd r:embed="rId2" name="arrow.wav"/>
      </p:stSnd>
    </p:sndAc>
  </p:transition>
</p:sld>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Berli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arallax">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4.xml><?xml version="1.0" encoding="utf-8"?>
<a:theme xmlns:a="http://schemas.openxmlformats.org/drawingml/2006/main" name="Savon">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5.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4097D1F-A58F-4B8B-AA63-552BB5BD1726}">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TM03457491[[fn=Metropolitan]]</Template>
  <TotalTime>2867</TotalTime>
  <Words>1513</Words>
  <Application>Microsoft Office PowerPoint</Application>
  <PresentationFormat>Widescreen</PresentationFormat>
  <Paragraphs>158</Paragraphs>
  <Slides>22</Slides>
  <Notes>1</Notes>
  <HiddenSlides>0</HiddenSlides>
  <MMClips>0</MMClips>
  <ScaleCrop>false</ScaleCrop>
  <HeadingPairs>
    <vt:vector size="8" baseType="variant">
      <vt:variant>
        <vt:lpstr>Fonts Used</vt:lpstr>
      </vt:variant>
      <vt:variant>
        <vt:i4>8</vt:i4>
      </vt:variant>
      <vt:variant>
        <vt:lpstr>Theme</vt:lpstr>
      </vt:variant>
      <vt:variant>
        <vt:i4>5</vt:i4>
      </vt:variant>
      <vt:variant>
        <vt:lpstr>Embedded OLE Servers</vt:lpstr>
      </vt:variant>
      <vt:variant>
        <vt:i4>1</vt:i4>
      </vt:variant>
      <vt:variant>
        <vt:lpstr>Slide Titles</vt:lpstr>
      </vt:variant>
      <vt:variant>
        <vt:i4>22</vt:i4>
      </vt:variant>
    </vt:vector>
  </HeadingPairs>
  <TitlesOfParts>
    <vt:vector size="36" baseType="lpstr">
      <vt:lpstr>Aptos</vt:lpstr>
      <vt:lpstr>Aptos Display</vt:lpstr>
      <vt:lpstr>Aptos Narrow</vt:lpstr>
      <vt:lpstr>Arial</vt:lpstr>
      <vt:lpstr>Century Gothic</vt:lpstr>
      <vt:lpstr>Corbel</vt:lpstr>
      <vt:lpstr>Garamond</vt:lpstr>
      <vt:lpstr>Trebuchet MS</vt:lpstr>
      <vt:lpstr>Berlin</vt:lpstr>
      <vt:lpstr>Office Theme</vt:lpstr>
      <vt:lpstr>Parallax</vt:lpstr>
      <vt:lpstr>Savon</vt:lpstr>
      <vt:lpstr>1_Office Theme</vt:lpstr>
      <vt:lpstr>Microsoft Excel Worksheet</vt:lpstr>
      <vt:lpstr>INVENTORY OPTIMIZATION STRATEGY REPORT </vt:lpstr>
      <vt:lpstr>  SECTION OVERVIEW</vt:lpstr>
      <vt:lpstr>  CONTEXT OF WORK </vt:lpstr>
      <vt:lpstr>  CONTEXT OF WORK </vt:lpstr>
      <vt:lpstr>                  MISSION STATEMENT </vt:lpstr>
      <vt:lpstr>                  MISSION STATEMENT </vt:lpstr>
      <vt:lpstr>                 MISSION STATEMENT </vt:lpstr>
      <vt:lpstr>ENHANCHING INVENTORY EFFICIENCY </vt:lpstr>
      <vt:lpstr>ENHANCING INVENTORY EFFICIENCY</vt:lpstr>
      <vt:lpstr>ELECTRONICS GENERATES THE HIGHEST SALES VOLUME OUT OF ALL THE CATEGORIES</vt:lpstr>
      <vt:lpstr>THE CORRELATION BETWEEN THE INFLATION RATE AND THE SALES VOLUME</vt:lpstr>
      <vt:lpstr>THE IMPACT OF PROMOTIONS ON THE SALE QUANTITY OF PRODUCTS</vt:lpstr>
      <vt:lpstr>THE CORRELATION BETWEEN THE INFLATION RATE AND THE SALES VOLUME</vt:lpstr>
      <vt:lpstr>RECOMMENDATIONS FOR ENHANCED INVENTORY MANAGEMENT </vt:lpstr>
      <vt:lpstr>RECOMMENDATIONS IN OPTIMIZING INVENTORY LEVELS TO MINIMIZE OVERSTOCK AND UNDERSTOCK SITUATIONS </vt:lpstr>
      <vt:lpstr>RECOMMENDATIONS IN OPTIMIZING INVENTORY LEVELS TO MINIMIZE OVERSTOCK AND UNDERSTOCK SITUATIONS</vt:lpstr>
      <vt:lpstr>RECOMMENDATIONS FOR SEASONAL TRENDS</vt:lpstr>
      <vt:lpstr>RECOMMENDATIONS FOR SEASONAL TRENDS</vt:lpstr>
      <vt:lpstr>RECOMMENDATIONS FOR IMPROVING CUSTOMER SATISFACTION BY ENSURING PRODUCT AVAILABILITY. </vt:lpstr>
      <vt:lpstr>RECOMMENDATIONS FOR IMPROVING CUSTOMER SATISFACTION BY ENSURING PRODUCT AVAILABILITY</vt:lpstr>
      <vt:lpstr>   FINAL TAKEAWAYS: SMART INVENTORY, HAPPY BUSINESS!</vt:lpstr>
      <vt:lpstr> PRESENTED BY: DANIEL ASARE   REPRESENTING C24 -11 GROUP 3 EU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Sekyere</dc:creator>
  <cp:lastModifiedBy>Daniel Sekyere</cp:lastModifiedBy>
  <cp:revision>5</cp:revision>
  <dcterms:created xsi:type="dcterms:W3CDTF">2025-02-10T20:31:45Z</dcterms:created>
  <dcterms:modified xsi:type="dcterms:W3CDTF">2025-02-12T20:19:10Z</dcterms:modified>
</cp:coreProperties>
</file>